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League Spartan" panose="020B0604020202020204" charset="0"/>
      <p:regular r:id="rId32"/>
    </p:embeddedFont>
    <p:embeddedFont>
      <p:font typeface="Lovelo" panose="020B0604020202020204" charset="0"/>
      <p:regular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Bold" panose="020B0806030504020204" pitchFamily="34" charset="0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96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63B53-6ECA-5456-25BA-EB97A0148EB1}" v="28" dt="2025-05-15T18:27:59.281"/>
    <p1510:client id="{72C373B5-13A8-E8E5-CFF4-414E6213EC42}" v="446" dt="2025-05-15T17:52:29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602D3-5A6E-467F-BA25-A60105C58D75}" type="datetimeFigureOut">
              <a:rPr lang="es-ES" smtClean="0"/>
              <a:t>15/05/2025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B6123-79B7-4EAA-81A9-243C3F8A42F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97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B6123-79B7-4EAA-81A9-243C3F8A42FC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416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ecfacialch.myddns.me/Proyecto-DAW/index.ph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9585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416110" y="1256428"/>
            <a:ext cx="3455780" cy="2687829"/>
          </a:xfrm>
          <a:custGeom>
            <a:avLst/>
            <a:gdLst/>
            <a:ahLst/>
            <a:cxnLst/>
            <a:rect l="l" t="t" r="r" b="b"/>
            <a:pathLst>
              <a:path w="3455780" h="2687829">
                <a:moveTo>
                  <a:pt x="0" y="0"/>
                </a:moveTo>
                <a:lnTo>
                  <a:pt x="3455780" y="0"/>
                </a:lnTo>
                <a:lnTo>
                  <a:pt x="3455780" y="2687828"/>
                </a:lnTo>
                <a:lnTo>
                  <a:pt x="0" y="2687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32462" y="4472493"/>
            <a:ext cx="11415932" cy="2380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72"/>
              </a:lnSpc>
              <a:spcBef>
                <a:spcPct val="0"/>
              </a:spcBef>
            </a:pPr>
            <a:r>
              <a:rPr lang="en-US" sz="5600" spc="16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RECONOCIMIENTO FACIAL PARA CONTROL HORARIO​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32462" y="8171271"/>
            <a:ext cx="1141593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51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pROYECTO | dAW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01986" y="0"/>
            <a:ext cx="8184700" cy="10287000"/>
            <a:chOff x="0" y="0"/>
            <a:chExt cx="21556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641" cy="2709333"/>
            </a:xfrm>
            <a:custGeom>
              <a:avLst/>
              <a:gdLst/>
              <a:ahLst/>
              <a:cxnLst/>
              <a:rect l="l" t="t" r="r" b="b"/>
              <a:pathLst>
                <a:path w="2155641" h="2709333">
                  <a:moveTo>
                    <a:pt x="0" y="0"/>
                  </a:moveTo>
                  <a:lnTo>
                    <a:pt x="2155641" y="0"/>
                  </a:lnTo>
                  <a:lnTo>
                    <a:pt x="21556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6D0CE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5564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786687" y="0"/>
            <a:ext cx="8088154" cy="10287000"/>
          </a:xfrm>
          <a:custGeom>
            <a:avLst/>
            <a:gdLst/>
            <a:ahLst/>
            <a:cxnLst/>
            <a:rect l="l" t="t" r="r" b="b"/>
            <a:pathLst>
              <a:path w="8088154" h="10287000">
                <a:moveTo>
                  <a:pt x="0" y="0"/>
                </a:moveTo>
                <a:lnTo>
                  <a:pt x="8088153" y="0"/>
                </a:lnTo>
                <a:lnTo>
                  <a:pt x="808815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53731" y="1199622"/>
            <a:ext cx="12785919" cy="8323836"/>
            <a:chOff x="0" y="0"/>
            <a:chExt cx="3367485" cy="21811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67485" cy="2181137"/>
            </a:xfrm>
            <a:custGeom>
              <a:avLst/>
              <a:gdLst/>
              <a:ahLst/>
              <a:cxnLst/>
              <a:rect l="l" t="t" r="r" b="b"/>
              <a:pathLst>
                <a:path w="3367485" h="2181137">
                  <a:moveTo>
                    <a:pt x="0" y="0"/>
                  </a:moveTo>
                  <a:lnTo>
                    <a:pt x="3367485" y="0"/>
                  </a:lnTo>
                  <a:lnTo>
                    <a:pt x="3367485" y="2181137"/>
                  </a:lnTo>
                  <a:lnTo>
                    <a:pt x="0" y="21811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67485" cy="221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05998" y="373381"/>
            <a:ext cx="6976677" cy="65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CONTENIDO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24062" y="1242059"/>
            <a:ext cx="7540549" cy="825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IntroducciÓn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Equipo de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trabajo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¿En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qué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consiste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? ¿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cuÁl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es la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necesidad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?</a:t>
            </a:r>
            <a:endParaRPr lang="en-US" sz="1600" spc="292" dirty="0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¿Por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quÉ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nuestra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solución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?</a:t>
            </a:r>
            <a:endParaRPr lang="en-US" sz="1600" spc="292" dirty="0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Fundamentos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del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proyecto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MetodologÍa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Funcionamiento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aplicaciÓn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Flujo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tÍpico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de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trabajo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PlanificaciÓn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y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costos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Requisitos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Diseño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Casos de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uso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TecnologÍas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utilizadas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OrganizaciÓn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del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desarrollo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Control de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versiones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InstalaciÓn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Pruebas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  <a:p>
            <a:pPr marL="366395" lvl="1" indent="-182880" algn="l">
              <a:lnSpc>
                <a:spcPts val="3569"/>
              </a:lnSpc>
              <a:buAutoNum type="arabicPeriod"/>
            </a:pP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ConcluSiÓn</a:t>
            </a:r>
            <a:r>
              <a:rPr lang="en-US" sz="1600" spc="292" dirty="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 y </a:t>
            </a:r>
            <a:r>
              <a:rPr lang="en-US" sz="1600" spc="292" err="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futuro</a:t>
            </a:r>
            <a:endParaRPr lang="en-US" sz="1600" spc="292" err="1">
              <a:solidFill>
                <a:srgbClr val="000000"/>
              </a:solidFill>
              <a:latin typeface="Lovelo"/>
              <a:ea typeface="Lovelo"/>
              <a:cs typeface="Lovel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0062" y="3903320"/>
            <a:ext cx="2451258" cy="24512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918371" y="3903320"/>
            <a:ext cx="2451258" cy="245125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388804" y="3903320"/>
            <a:ext cx="2451258" cy="24512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450062" y="6693567"/>
            <a:ext cx="2451258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999" b="1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sz="2999" b="1" u="none" strike="noStrike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avid Martín Prados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18371" y="6693567"/>
            <a:ext cx="2451258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999" b="1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Raquel Mol</a:t>
            </a:r>
            <a:r>
              <a:rPr lang="en-US" sz="2999" b="1" u="none" strike="noStrike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ina Serrano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88804" y="6693567"/>
            <a:ext cx="2451258" cy="118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999" b="1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Isis</a:t>
            </a:r>
          </a:p>
          <a:p>
            <a:pPr algn="l">
              <a:lnSpc>
                <a:spcPts val="3119"/>
              </a:lnSpc>
            </a:pPr>
            <a:r>
              <a:rPr lang="en-US" sz="2999" b="1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Torres</a:t>
            </a:r>
          </a:p>
          <a:p>
            <a:pPr algn="l">
              <a:lnSpc>
                <a:spcPts val="3119"/>
              </a:lnSpc>
            </a:pPr>
            <a:r>
              <a:rPr lang="en-US" sz="2999" b="1" spc="515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Gomez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629046" y="1028700"/>
            <a:ext cx="11029908" cy="1877417"/>
            <a:chOff x="0" y="0"/>
            <a:chExt cx="4274726" cy="7276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74726" cy="727607"/>
            </a:xfrm>
            <a:custGeom>
              <a:avLst/>
              <a:gdLst/>
              <a:ahLst/>
              <a:cxnLst/>
              <a:rect l="l" t="t" r="r" b="b"/>
              <a:pathLst>
                <a:path w="4274726" h="727607">
                  <a:moveTo>
                    <a:pt x="0" y="0"/>
                  </a:moveTo>
                  <a:lnTo>
                    <a:pt x="4274726" y="0"/>
                  </a:lnTo>
                  <a:lnTo>
                    <a:pt x="4274726" y="727607"/>
                  </a:lnTo>
                  <a:lnTo>
                    <a:pt x="0" y="727607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274726" cy="765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32685" y="1744555"/>
            <a:ext cx="8222630" cy="45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sz="3058" spc="905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EQUIPO DE TRABAJO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57525" y="8854440"/>
            <a:ext cx="837295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999" b="1" spc="515" dirty="0" err="1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Tutora</a:t>
            </a:r>
            <a:r>
              <a:rPr lang="en-US" sz="2999" b="1" spc="515" dirty="0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Manuela López </a:t>
            </a:r>
            <a:r>
              <a:rPr lang="en-US" sz="2999" b="1" spc="515" dirty="0" err="1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Mansilla</a:t>
            </a:r>
            <a:endParaRPr lang="en-US" sz="2999" b="1" spc="515" dirty="0">
              <a:solidFill>
                <a:srgbClr val="26D0CE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77495" y="2050965"/>
            <a:ext cx="12785919" cy="5260260"/>
            <a:chOff x="0" y="0"/>
            <a:chExt cx="3367485" cy="1385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67485" cy="1385418"/>
            </a:xfrm>
            <a:custGeom>
              <a:avLst/>
              <a:gdLst/>
              <a:ahLst/>
              <a:cxnLst/>
              <a:rect l="l" t="t" r="r" b="b"/>
              <a:pathLst>
                <a:path w="3367485" h="1385418">
                  <a:moveTo>
                    <a:pt x="0" y="0"/>
                  </a:moveTo>
                  <a:lnTo>
                    <a:pt x="3367485" y="0"/>
                  </a:lnTo>
                  <a:lnTo>
                    <a:pt x="3367485" y="1385418"/>
                  </a:lnTo>
                  <a:lnTo>
                    <a:pt x="0" y="13854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67485" cy="1423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867239"/>
            <a:ext cx="14897122" cy="6532065"/>
            <a:chOff x="0" y="0"/>
            <a:chExt cx="3923522" cy="17203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23522" cy="1720379"/>
            </a:xfrm>
            <a:custGeom>
              <a:avLst/>
              <a:gdLst/>
              <a:ahLst/>
              <a:cxnLst/>
              <a:rect l="l" t="t" r="r" b="b"/>
              <a:pathLst>
                <a:path w="3923522" h="1720379">
                  <a:moveTo>
                    <a:pt x="0" y="0"/>
                  </a:moveTo>
                  <a:lnTo>
                    <a:pt x="3923522" y="0"/>
                  </a:lnTo>
                  <a:lnTo>
                    <a:pt x="3923522" y="1720379"/>
                  </a:lnTo>
                  <a:lnTo>
                    <a:pt x="0" y="1720379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23522" cy="1758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51163" y="5313219"/>
            <a:ext cx="11394797" cy="65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INTRODUCCIÓN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1163" y="6207125"/>
            <a:ext cx="11394797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la reforma laboral prevista para 2025, todas las empresas deberán llevar un registro digital de la jornada.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Actualmente, hasta un 90% de las Pymes aún usan papel.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Nuestro sistema con reconocimiento facial garantiza el cumplimiento legal, optimiza la gestión del tiempo y automatiza el proceso de fichaje.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2888" y="5395339"/>
            <a:ext cx="15035243" cy="3669423"/>
            <a:chOff x="0" y="0"/>
            <a:chExt cx="3959899" cy="966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9899" cy="966432"/>
            </a:xfrm>
            <a:custGeom>
              <a:avLst/>
              <a:gdLst/>
              <a:ahLst/>
              <a:cxnLst/>
              <a:rect l="l" t="t" r="r" b="b"/>
              <a:pathLst>
                <a:path w="3959899" h="966432">
                  <a:moveTo>
                    <a:pt x="0" y="0"/>
                  </a:moveTo>
                  <a:lnTo>
                    <a:pt x="3959899" y="0"/>
                  </a:lnTo>
                  <a:lnTo>
                    <a:pt x="3959899" y="966432"/>
                  </a:lnTo>
                  <a:lnTo>
                    <a:pt x="0" y="966432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59899" cy="100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4291" y="1087882"/>
            <a:ext cx="16619419" cy="7648704"/>
            <a:chOff x="0" y="0"/>
            <a:chExt cx="4377131" cy="20144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7131" cy="2014474"/>
            </a:xfrm>
            <a:custGeom>
              <a:avLst/>
              <a:gdLst/>
              <a:ahLst/>
              <a:cxnLst/>
              <a:rect l="l" t="t" r="r" b="b"/>
              <a:pathLst>
                <a:path w="4377131" h="2014474">
                  <a:moveTo>
                    <a:pt x="0" y="0"/>
                  </a:moveTo>
                  <a:lnTo>
                    <a:pt x="4377131" y="0"/>
                  </a:lnTo>
                  <a:lnTo>
                    <a:pt x="4377131" y="2014474"/>
                  </a:lnTo>
                  <a:lnTo>
                    <a:pt x="0" y="2014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77131" cy="2052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844932" y="810317"/>
            <a:ext cx="15035243" cy="3669423"/>
            <a:chOff x="0" y="0"/>
            <a:chExt cx="3959899" cy="9664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59899" cy="966432"/>
            </a:xfrm>
            <a:custGeom>
              <a:avLst/>
              <a:gdLst/>
              <a:ahLst/>
              <a:cxnLst/>
              <a:rect l="l" t="t" r="r" b="b"/>
              <a:pathLst>
                <a:path w="3959899" h="966432">
                  <a:moveTo>
                    <a:pt x="0" y="0"/>
                  </a:moveTo>
                  <a:lnTo>
                    <a:pt x="3959899" y="0"/>
                  </a:lnTo>
                  <a:lnTo>
                    <a:pt x="3959899" y="966432"/>
                  </a:lnTo>
                  <a:lnTo>
                    <a:pt x="0" y="966432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959899" cy="100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48832" y="1097407"/>
            <a:ext cx="10838889" cy="97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7"/>
              </a:lnSpc>
              <a:spcBef>
                <a:spcPct val="0"/>
              </a:spcBef>
            </a:pPr>
            <a:r>
              <a:rPr lang="en-US" sz="3399" spc="1006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¿EN QUÉ CONSISTE NUESTRO PROYECTO?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48832" y="2225666"/>
            <a:ext cx="12989145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aplicación web que permite registrar la entrada y salida de empleados mediante reconocimiento facial, con opción alternativa de RFID. El sistema incluye tres interfaces: una para fichaje en Tablet o cualquier otro dispositivo con cámara, otra para que el empleado consulte su actividad, y una de administración con control total de usuarios, roles y estadísticas.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5021" y="5773618"/>
            <a:ext cx="8351209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3499" spc="103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¿CUÁL ES LA NECESIDAD?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3938" y="6576797"/>
            <a:ext cx="11394797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reforma laboral de 2025 va a obligar a digitalizar el control horario en todas las empresas, mientras que entre el 72% y el 90% de las Pymes aún usan registros en papel, lo que implica errores, fraude y pérdida de tiempo. Es urgente adoptar sistemas automáticos, seguros y eficientes.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79595"/>
            <a:ext cx="6986741" cy="2576450"/>
            <a:chOff x="0" y="0"/>
            <a:chExt cx="1840129" cy="6785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0129" cy="678571"/>
            </a:xfrm>
            <a:custGeom>
              <a:avLst/>
              <a:gdLst/>
              <a:ahLst/>
              <a:cxnLst/>
              <a:rect l="l" t="t" r="r" b="b"/>
              <a:pathLst>
                <a:path w="1840129" h="678571">
                  <a:moveTo>
                    <a:pt x="0" y="0"/>
                  </a:moveTo>
                  <a:lnTo>
                    <a:pt x="1840129" y="0"/>
                  </a:lnTo>
                  <a:lnTo>
                    <a:pt x="1840129" y="678571"/>
                  </a:lnTo>
                  <a:lnTo>
                    <a:pt x="0" y="678571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0129" cy="716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3115" y="2712302"/>
            <a:ext cx="5282711" cy="2410085"/>
          </a:xfrm>
          <a:custGeom>
            <a:avLst/>
            <a:gdLst/>
            <a:ahLst/>
            <a:cxnLst/>
            <a:rect l="l" t="t" r="r" b="b"/>
            <a:pathLst>
              <a:path w="5282711" h="2410085">
                <a:moveTo>
                  <a:pt x="0" y="0"/>
                </a:moveTo>
                <a:lnTo>
                  <a:pt x="5282711" y="0"/>
                </a:lnTo>
                <a:lnTo>
                  <a:pt x="5282711" y="2410085"/>
                </a:lnTo>
                <a:lnTo>
                  <a:pt x="0" y="2410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69097" y="6845671"/>
            <a:ext cx="4879082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 errores y ahorra tiempo.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5123" y="6718930"/>
            <a:ext cx="4475453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 fácilmente con sistemas existentes.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86220" y="6845671"/>
            <a:ext cx="4173080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 segura, escalable, rápida y fácil de usar.</a:t>
            </a:r>
          </a:p>
        </p:txBody>
      </p:sp>
      <p:sp>
        <p:nvSpPr>
          <p:cNvPr id="9" name="Freeform 9"/>
          <p:cNvSpPr/>
          <p:nvPr/>
        </p:nvSpPr>
        <p:spPr>
          <a:xfrm>
            <a:off x="1103115" y="6266104"/>
            <a:ext cx="5282711" cy="2410085"/>
          </a:xfrm>
          <a:custGeom>
            <a:avLst/>
            <a:gdLst/>
            <a:ahLst/>
            <a:cxnLst/>
            <a:rect l="l" t="t" r="r" b="b"/>
            <a:pathLst>
              <a:path w="5282711" h="2410085">
                <a:moveTo>
                  <a:pt x="0" y="0"/>
                </a:moveTo>
                <a:lnTo>
                  <a:pt x="5282711" y="0"/>
                </a:lnTo>
                <a:lnTo>
                  <a:pt x="5282711" y="2410084"/>
                </a:lnTo>
                <a:lnTo>
                  <a:pt x="0" y="241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65467" y="6266104"/>
            <a:ext cx="5282711" cy="2410085"/>
          </a:xfrm>
          <a:custGeom>
            <a:avLst/>
            <a:gdLst/>
            <a:ahLst/>
            <a:cxnLst/>
            <a:rect l="l" t="t" r="r" b="b"/>
            <a:pathLst>
              <a:path w="5282711" h="2410085">
                <a:moveTo>
                  <a:pt x="0" y="0"/>
                </a:moveTo>
                <a:lnTo>
                  <a:pt x="5282711" y="0"/>
                </a:lnTo>
                <a:lnTo>
                  <a:pt x="5282711" y="2410084"/>
                </a:lnTo>
                <a:lnTo>
                  <a:pt x="0" y="241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429178" y="6266104"/>
            <a:ext cx="5282711" cy="2410085"/>
          </a:xfrm>
          <a:custGeom>
            <a:avLst/>
            <a:gdLst/>
            <a:ahLst/>
            <a:cxnLst/>
            <a:rect l="l" t="t" r="r" b="b"/>
            <a:pathLst>
              <a:path w="5282711" h="2410085">
                <a:moveTo>
                  <a:pt x="0" y="0"/>
                </a:moveTo>
                <a:lnTo>
                  <a:pt x="5282711" y="0"/>
                </a:lnTo>
                <a:lnTo>
                  <a:pt x="5282711" y="2410084"/>
                </a:lnTo>
                <a:lnTo>
                  <a:pt x="0" y="241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986741" y="0"/>
            <a:ext cx="11301259" cy="5424604"/>
          </a:xfrm>
          <a:custGeom>
            <a:avLst/>
            <a:gdLst/>
            <a:ahLst/>
            <a:cxnLst/>
            <a:rect l="l" t="t" r="r" b="b"/>
            <a:pathLst>
              <a:path w="11301259" h="5424604">
                <a:moveTo>
                  <a:pt x="0" y="0"/>
                </a:moveTo>
                <a:lnTo>
                  <a:pt x="11301259" y="0"/>
                </a:lnTo>
                <a:lnTo>
                  <a:pt x="11301259" y="5424604"/>
                </a:lnTo>
                <a:lnTo>
                  <a:pt x="0" y="542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613918"/>
            <a:ext cx="5431541" cy="83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  <a:spcBef>
                <a:spcPct val="0"/>
              </a:spcBef>
            </a:pPr>
            <a:r>
              <a:rPr lang="en-US" sz="2899" spc="858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¿POR QUÉ NUESTRA SOLUCIÓN?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3308" y="3291869"/>
            <a:ext cx="4879082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26D0C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Cumple con la normativa vigente (RD 8/2019).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722" y="1750606"/>
            <a:ext cx="16682578" cy="7507694"/>
            <a:chOff x="0" y="0"/>
            <a:chExt cx="4393765" cy="1977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3766" cy="1977335"/>
            </a:xfrm>
            <a:custGeom>
              <a:avLst/>
              <a:gdLst/>
              <a:ahLst/>
              <a:cxnLst/>
              <a:rect l="l" t="t" r="r" b="b"/>
              <a:pathLst>
                <a:path w="4393766" h="1977335">
                  <a:moveTo>
                    <a:pt x="0" y="0"/>
                  </a:moveTo>
                  <a:lnTo>
                    <a:pt x="4393766" y="0"/>
                  </a:lnTo>
                  <a:lnTo>
                    <a:pt x="4393766" y="1977335"/>
                  </a:lnTo>
                  <a:lnTo>
                    <a:pt x="0" y="1977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93765" cy="2015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1097303" cy="2365992"/>
            <a:chOff x="0" y="0"/>
            <a:chExt cx="2922746" cy="6231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746" cy="623142"/>
            </a:xfrm>
            <a:custGeom>
              <a:avLst/>
              <a:gdLst/>
              <a:ahLst/>
              <a:cxnLst/>
              <a:rect l="l" t="t" r="r" b="b"/>
              <a:pathLst>
                <a:path w="2922746" h="623142">
                  <a:moveTo>
                    <a:pt x="0" y="0"/>
                  </a:moveTo>
                  <a:lnTo>
                    <a:pt x="2922746" y="0"/>
                  </a:lnTo>
                  <a:lnTo>
                    <a:pt x="2922746" y="623142"/>
                  </a:lnTo>
                  <a:lnTo>
                    <a:pt x="0" y="623142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922746" cy="661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6722" y="767017"/>
            <a:ext cx="10330511" cy="898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  <a:spcBef>
                <a:spcPct val="0"/>
              </a:spcBef>
            </a:pPr>
            <a:r>
              <a:rPr lang="en-US" sz="3699" spc="109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FUNDAMENTOS DEL PROYECTO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599" spc="76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OBJETIVOS GENERALES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492415-B590-D776-CEFC-9FE0AC64B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70728"/>
              </p:ext>
            </p:extLst>
          </p:nvPr>
        </p:nvGraphicFramePr>
        <p:xfrm>
          <a:off x="925512" y="3197754"/>
          <a:ext cx="15992471" cy="43148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60333">
                  <a:extLst>
                    <a:ext uri="{9D8B030D-6E8A-4147-A177-3AD203B41FA5}">
                      <a16:colId xmlns:a16="http://schemas.microsoft.com/office/drawing/2014/main" val="3616941433"/>
                    </a:ext>
                  </a:extLst>
                </a:gridCol>
                <a:gridCol w="8132231">
                  <a:extLst>
                    <a:ext uri="{9D8B030D-6E8A-4147-A177-3AD203B41FA5}">
                      <a16:colId xmlns:a16="http://schemas.microsoft.com/office/drawing/2014/main" val="162545839"/>
                    </a:ext>
                  </a:extLst>
                </a:gridCol>
                <a:gridCol w="3499907">
                  <a:extLst>
                    <a:ext uri="{9D8B030D-6E8A-4147-A177-3AD203B41FA5}">
                      <a16:colId xmlns:a16="http://schemas.microsoft.com/office/drawing/2014/main" val="370952067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4D10F"/>
                          </a:solidFill>
                          <a:effectLst/>
                          <a:latin typeface="Lovelo"/>
                        </a:rPr>
                        <a:t>OBJETIVO</a:t>
                      </a:r>
                      <a:endParaRPr lang="en-US" sz="1400" dirty="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9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4D10F"/>
                          </a:solidFill>
                          <a:effectLst/>
                          <a:latin typeface="Lovelo"/>
                        </a:rPr>
                        <a:t>DESCRIPCIÓN</a:t>
                      </a:r>
                      <a:endParaRPr lang="en-US" sz="1400" dirty="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9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4D10F"/>
                          </a:solidFill>
                          <a:effectLst/>
                          <a:latin typeface="Lovelo"/>
                        </a:rPr>
                        <a:t>SOLUCION</a:t>
                      </a:r>
                      <a:endParaRPr lang="en-US" sz="1400" dirty="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9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531655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b="1" err="1">
                          <a:effectLst/>
                          <a:latin typeface="Lovelo"/>
                        </a:rPr>
                        <a:t>Digitalizar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el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registro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horario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Eliminando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la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información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papel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y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centralizándola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una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Base 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datos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Lovelo"/>
                        </a:rPr>
                        <a:t>Portal 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empleado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636181"/>
                  </a:ext>
                </a:extLst>
              </a:tr>
              <a:tr h="1466850">
                <a:tc>
                  <a:txBody>
                    <a:bodyPr/>
                    <a:lstStyle/>
                    <a:p>
                      <a:pPr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b="1" err="1">
                          <a:effectLst/>
                          <a:latin typeface="Lovelo"/>
                        </a:rPr>
                        <a:t>Reducir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costos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operativos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Permitiendo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la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automatización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del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fichaje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empleados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sin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necesitar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comprobar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la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asistencia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uno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por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uno.</a:t>
                      </a: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Lovelo"/>
                        </a:rPr>
                        <a:t>Portal 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reconocimiento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693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b="1" err="1">
                          <a:effectLst/>
                          <a:latin typeface="Lovelo"/>
                        </a:rPr>
                        <a:t>Ampliar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el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control e </a:t>
                      </a:r>
                      <a:r>
                        <a:rPr lang="en-US" sz="1400" b="1" err="1">
                          <a:effectLst/>
                          <a:latin typeface="Lovelo"/>
                        </a:rPr>
                        <a:t>información</a:t>
                      </a:r>
                      <a:r>
                        <a:rPr lang="en-US" sz="1400" b="1" dirty="0">
                          <a:effectLst/>
                          <a:latin typeface="Lovelo"/>
                        </a:rPr>
                        <a:t> de RRHH.</a:t>
                      </a:r>
                      <a:endParaRPr lang="en-US" sz="1400" dirty="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Ofrecer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estadísticas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,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resolución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incidencias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,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gestión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empleados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,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consultas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 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datos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, etc...</a:t>
                      </a: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33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Lovelo"/>
                        </a:rPr>
                        <a:t>Portal de 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administración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marL="88897" marR="88897" marT="88897" marB="88897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670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722" y="1750606"/>
            <a:ext cx="16547245" cy="7507694"/>
            <a:chOff x="0" y="0"/>
            <a:chExt cx="4358122" cy="1977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8122" cy="1977335"/>
            </a:xfrm>
            <a:custGeom>
              <a:avLst/>
              <a:gdLst/>
              <a:ahLst/>
              <a:cxnLst/>
              <a:rect l="l" t="t" r="r" b="b"/>
              <a:pathLst>
                <a:path w="4358122" h="1977335">
                  <a:moveTo>
                    <a:pt x="0" y="0"/>
                  </a:moveTo>
                  <a:lnTo>
                    <a:pt x="4358122" y="0"/>
                  </a:lnTo>
                  <a:lnTo>
                    <a:pt x="4358122" y="1977335"/>
                  </a:lnTo>
                  <a:lnTo>
                    <a:pt x="0" y="1977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8122" cy="2015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1097303" cy="2365992"/>
            <a:chOff x="0" y="0"/>
            <a:chExt cx="2922746" cy="6231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2746" cy="623142"/>
            </a:xfrm>
            <a:custGeom>
              <a:avLst/>
              <a:gdLst/>
              <a:ahLst/>
              <a:cxnLst/>
              <a:rect l="l" t="t" r="r" b="b"/>
              <a:pathLst>
                <a:path w="2922746" h="623142">
                  <a:moveTo>
                    <a:pt x="0" y="0"/>
                  </a:moveTo>
                  <a:lnTo>
                    <a:pt x="2922746" y="0"/>
                  </a:lnTo>
                  <a:lnTo>
                    <a:pt x="2922746" y="623142"/>
                  </a:lnTo>
                  <a:lnTo>
                    <a:pt x="0" y="623142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922746" cy="661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6722" y="767017"/>
            <a:ext cx="10330511" cy="898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  <a:spcBef>
                <a:spcPct val="0"/>
              </a:spcBef>
            </a:pPr>
            <a:r>
              <a:rPr lang="en-US" sz="3699" spc="109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FUNDAMENTOS DEL PROYECTO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599" spc="76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OBJETIVOS ESPECIFICOS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2824CB1-7F8D-BB97-118D-2E21D1F98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2479"/>
              </p:ext>
            </p:extLst>
          </p:nvPr>
        </p:nvGraphicFramePr>
        <p:xfrm>
          <a:off x="1322916" y="2571749"/>
          <a:ext cx="15049793" cy="641330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97698">
                  <a:extLst>
                    <a:ext uri="{9D8B030D-6E8A-4147-A177-3AD203B41FA5}">
                      <a16:colId xmlns:a16="http://schemas.microsoft.com/office/drawing/2014/main" val="2789269368"/>
                    </a:ext>
                  </a:extLst>
                </a:gridCol>
                <a:gridCol w="7377877">
                  <a:extLst>
                    <a:ext uri="{9D8B030D-6E8A-4147-A177-3AD203B41FA5}">
                      <a16:colId xmlns:a16="http://schemas.microsoft.com/office/drawing/2014/main" val="2830715304"/>
                    </a:ext>
                  </a:extLst>
                </a:gridCol>
                <a:gridCol w="3874218">
                  <a:extLst>
                    <a:ext uri="{9D8B030D-6E8A-4147-A177-3AD203B41FA5}">
                      <a16:colId xmlns:a16="http://schemas.microsoft.com/office/drawing/2014/main" val="3768789301"/>
                    </a:ext>
                  </a:extLst>
                </a:gridCol>
              </a:tblGrid>
              <a:tr h="61732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27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A4D10F"/>
                          </a:solidFill>
                          <a:effectLst/>
                          <a:latin typeface="Lovelo"/>
                        </a:rPr>
                        <a:t>OBJETIVO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96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27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A4D10F"/>
                          </a:solidFill>
                          <a:effectLst/>
                          <a:latin typeface="Lovelo"/>
                        </a:rPr>
                        <a:t>DESCRIPCIÓN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96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827"/>
                        </a:lnSpc>
                        <a:buNone/>
                      </a:pPr>
                      <a:r>
                        <a:rPr lang="en-US" sz="1400" b="0" dirty="0">
                          <a:solidFill>
                            <a:srgbClr val="A4D10F"/>
                          </a:solidFill>
                          <a:effectLst/>
                          <a:latin typeface="Lovelo"/>
                        </a:rPr>
                        <a:t>SOLUCION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9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662102"/>
                  </a:ext>
                </a:extLst>
              </a:tr>
              <a:tr h="857393"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Sistema de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reconocimiento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facial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err="1">
                          <a:effectLst/>
                          <a:latin typeface="Lovelo"/>
                        </a:rPr>
                        <a:t>Implementación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un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sistema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fiable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que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emplee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métodos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biométricos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JS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lado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cliente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y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lado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servidor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con Node.JS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40970"/>
                  </a:ext>
                </a:extLst>
              </a:tr>
              <a:tr h="857393"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Portal de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empleado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err="1">
                          <a:effectLst/>
                          <a:latin typeface="Lovelo"/>
                        </a:rPr>
                        <a:t>Restringiendo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el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acceso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a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los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datos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sensibles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que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serán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accesibles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solo para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el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empleado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PHP, JS y AJAX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296138"/>
                  </a:ext>
                </a:extLst>
              </a:tr>
              <a:tr h="857393"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Portal de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administración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Lovelo"/>
                        </a:rPr>
                        <a:t>Creación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un CRUD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restringido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por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roles y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usuarios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PHP, JS y AJAX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080782"/>
                  </a:ext>
                </a:extLst>
              </a:tr>
              <a:tr h="1183203"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err="1">
                          <a:effectLst/>
                          <a:latin typeface="Lovelo"/>
                        </a:rPr>
                        <a:t>Servidor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err="1">
                          <a:effectLst/>
                          <a:latin typeface="Lovelo"/>
                        </a:rPr>
                        <a:t>Instalación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del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aplicativo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servidor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LAMP con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los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servicios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y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configuración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necesaria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Linux + Apache + MySQL + PHP + Composer + Node.JS +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librerías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124062"/>
                  </a:ext>
                </a:extLst>
              </a:tr>
              <a:tr h="857393"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Base de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datos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err="1">
                          <a:effectLst/>
                          <a:latin typeface="Lovelo"/>
                        </a:rPr>
                        <a:t>Creación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tablas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, campos,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relaciones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y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restricciones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necesarias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MySQL con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PHPmyadmin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como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SGBD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100110"/>
                  </a:ext>
                </a:extLst>
              </a:tr>
              <a:tr h="1183203"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Lovelo"/>
                        </a:rPr>
                        <a:t>Valor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añadido</a:t>
                      </a:r>
                      <a:endParaRPr lang="en-US" sz="1400" b="0" dirty="0">
                        <a:effectLst/>
                        <a:latin typeface="Lovelo"/>
                      </a:endParaRP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>
                          <a:effectLst/>
                          <a:latin typeface="Lovelo"/>
                        </a:rPr>
                        <a:t>Garantizar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la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protección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b="0" err="1">
                          <a:effectLst/>
                          <a:latin typeface="Lovelo"/>
                        </a:rPr>
                        <a:t>datos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Lovelo"/>
                        </a:rPr>
                        <a:t>Uso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tecnologías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código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abierto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  <a:p>
                      <a:pPr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Lovelo"/>
                        </a:rPr>
                        <a:t>Reducir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el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fichaje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a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menos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de 10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segundos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12"/>
                        </a:lnSpc>
                        <a:buNone/>
                      </a:pPr>
                      <a:r>
                        <a:rPr lang="en-US" sz="1400" b="0" dirty="0" err="1">
                          <a:effectLst/>
                          <a:latin typeface="Lovelo"/>
                        </a:rPr>
                        <a:t>Almacenamiento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fuera del </a:t>
                      </a:r>
                      <a:r>
                        <a:rPr lang="en-US" sz="1400" b="0" dirty="0" err="1">
                          <a:effectLst/>
                          <a:latin typeface="Lovelo"/>
                        </a:rPr>
                        <a:t>espacio</a:t>
                      </a:r>
                      <a:r>
                        <a:rPr lang="en-US" sz="1400" b="0" dirty="0">
                          <a:effectLst/>
                          <a:latin typeface="Lovelo"/>
                        </a:rPr>
                        <a:t> web, HASH, SHA256.</a:t>
                      </a:r>
                    </a:p>
                  </a:txBody>
                  <a:tcPr marL="40005" marR="40005" marT="40005" marB="40005" anchor="ctr">
                    <a:lnL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4D1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053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68845" y="2003891"/>
            <a:ext cx="25595996" cy="7677027"/>
            <a:chOff x="0" y="-44598"/>
            <a:chExt cx="6741332" cy="2021933"/>
          </a:xfrm>
        </p:grpSpPr>
        <p:sp>
          <p:nvSpPr>
            <p:cNvPr id="3" name="Freeform 3"/>
            <p:cNvSpPr/>
            <p:nvPr/>
          </p:nvSpPr>
          <p:spPr>
            <a:xfrm>
              <a:off x="2383210" y="-44598"/>
              <a:ext cx="4358122" cy="1977335"/>
            </a:xfrm>
            <a:custGeom>
              <a:avLst/>
              <a:gdLst/>
              <a:ahLst/>
              <a:cxnLst/>
              <a:rect l="l" t="t" r="r" b="b"/>
              <a:pathLst>
                <a:path w="4358122" h="1977335">
                  <a:moveTo>
                    <a:pt x="0" y="0"/>
                  </a:moveTo>
                  <a:lnTo>
                    <a:pt x="4358122" y="0"/>
                  </a:lnTo>
                  <a:lnTo>
                    <a:pt x="4358122" y="1977335"/>
                  </a:lnTo>
                  <a:lnTo>
                    <a:pt x="0" y="1977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8122" cy="2015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3185" cy="7923038"/>
            <a:chOff x="0" y="0"/>
            <a:chExt cx="2176312" cy="20867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6312" cy="2086726"/>
            </a:xfrm>
            <a:custGeom>
              <a:avLst/>
              <a:gdLst/>
              <a:ahLst/>
              <a:cxnLst/>
              <a:rect l="l" t="t" r="r" b="b"/>
              <a:pathLst>
                <a:path w="2176312" h="2086726">
                  <a:moveTo>
                    <a:pt x="0" y="0"/>
                  </a:moveTo>
                  <a:lnTo>
                    <a:pt x="2176312" y="0"/>
                  </a:lnTo>
                  <a:lnTo>
                    <a:pt x="2176312" y="2086726"/>
                  </a:lnTo>
                  <a:lnTo>
                    <a:pt x="0" y="2086726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76312" cy="2124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63185" y="0"/>
            <a:ext cx="10404046" cy="10287000"/>
          </a:xfrm>
          <a:custGeom>
            <a:avLst/>
            <a:gdLst/>
            <a:ahLst/>
            <a:cxnLst/>
            <a:rect l="l" t="t" r="r" b="b"/>
            <a:pathLst>
              <a:path w="10404046" h="10287000">
                <a:moveTo>
                  <a:pt x="0" y="0"/>
                </a:moveTo>
                <a:lnTo>
                  <a:pt x="10404046" y="0"/>
                </a:lnTo>
                <a:lnTo>
                  <a:pt x="104040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64148" y="1047750"/>
            <a:ext cx="8591480" cy="11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3899" spc="1154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METODOLOGÍA DE DESARROLLO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7066" y="2498734"/>
            <a:ext cx="7489052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ha seguido una metodología híbrida que combina enfoques tradicionales con metodologías ágiles como Scrum. Esto ha permitido mantener una estructura ordenada y a la vez adaptarse a cambios durante el desarrollo.</a:t>
            </a:r>
          </a:p>
          <a:p>
            <a:pPr algn="ctr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trabajo se ha dividido en fases, y dentro de cada una se han realizado sprints de 2 a 4 semanas con revisiones periódicas: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7719" y="1028700"/>
            <a:ext cx="12392561" cy="1022632"/>
            <a:chOff x="0" y="0"/>
            <a:chExt cx="3263885" cy="26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63884" cy="269335"/>
            </a:xfrm>
            <a:custGeom>
              <a:avLst/>
              <a:gdLst/>
              <a:ahLst/>
              <a:cxnLst/>
              <a:rect l="l" t="t" r="r" b="b"/>
              <a:pathLst>
                <a:path w="3263884" h="269335">
                  <a:moveTo>
                    <a:pt x="0" y="0"/>
                  </a:moveTo>
                  <a:lnTo>
                    <a:pt x="3263884" y="0"/>
                  </a:lnTo>
                  <a:lnTo>
                    <a:pt x="3263884" y="269335"/>
                  </a:lnTo>
                  <a:lnTo>
                    <a:pt x="0" y="269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63885" cy="30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82654" y="1196884"/>
            <a:ext cx="199453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947719" y="2333473"/>
            <a:ext cx="12392561" cy="1022632"/>
            <a:chOff x="0" y="0"/>
            <a:chExt cx="3263885" cy="269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63884" cy="269335"/>
            </a:xfrm>
            <a:custGeom>
              <a:avLst/>
              <a:gdLst/>
              <a:ahLst/>
              <a:cxnLst/>
              <a:rect l="l" t="t" r="r" b="b"/>
              <a:pathLst>
                <a:path w="3263884" h="269335">
                  <a:moveTo>
                    <a:pt x="0" y="0"/>
                  </a:moveTo>
                  <a:lnTo>
                    <a:pt x="3263884" y="0"/>
                  </a:lnTo>
                  <a:lnTo>
                    <a:pt x="3263884" y="269335"/>
                  </a:lnTo>
                  <a:lnTo>
                    <a:pt x="0" y="269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263885" cy="30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82654" y="2501658"/>
            <a:ext cx="1692546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947719" y="3641855"/>
            <a:ext cx="12392561" cy="1022632"/>
            <a:chOff x="0" y="0"/>
            <a:chExt cx="3263885" cy="2693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63884" cy="269335"/>
            </a:xfrm>
            <a:custGeom>
              <a:avLst/>
              <a:gdLst/>
              <a:ahLst/>
              <a:cxnLst/>
              <a:rect l="l" t="t" r="r" b="b"/>
              <a:pathLst>
                <a:path w="3263884" h="269335">
                  <a:moveTo>
                    <a:pt x="0" y="0"/>
                  </a:moveTo>
                  <a:lnTo>
                    <a:pt x="3263884" y="0"/>
                  </a:lnTo>
                  <a:lnTo>
                    <a:pt x="3263884" y="269335"/>
                  </a:lnTo>
                  <a:lnTo>
                    <a:pt x="0" y="269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263885" cy="30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65187" y="3813587"/>
            <a:ext cx="360256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IMPLEMENTACIÓN: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947719" y="4950237"/>
            <a:ext cx="12392561" cy="1691300"/>
            <a:chOff x="0" y="0"/>
            <a:chExt cx="3263885" cy="4454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63884" cy="445445"/>
            </a:xfrm>
            <a:custGeom>
              <a:avLst/>
              <a:gdLst/>
              <a:ahLst/>
              <a:cxnLst/>
              <a:rect l="l" t="t" r="r" b="b"/>
              <a:pathLst>
                <a:path w="3263884" h="445445">
                  <a:moveTo>
                    <a:pt x="0" y="0"/>
                  </a:moveTo>
                  <a:lnTo>
                    <a:pt x="3263884" y="0"/>
                  </a:lnTo>
                  <a:lnTo>
                    <a:pt x="3263884" y="445445"/>
                  </a:lnTo>
                  <a:lnTo>
                    <a:pt x="0" y="445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263885" cy="483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382654" y="5118421"/>
            <a:ext cx="2882380" cy="109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INTEGRACION</a:t>
            </a:r>
          </a:p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PRUEBAS: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947719" y="6927287"/>
            <a:ext cx="12392561" cy="1022632"/>
            <a:chOff x="0" y="0"/>
            <a:chExt cx="3263885" cy="2693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63884" cy="269335"/>
            </a:xfrm>
            <a:custGeom>
              <a:avLst/>
              <a:gdLst/>
              <a:ahLst/>
              <a:cxnLst/>
              <a:rect l="l" t="t" r="r" b="b"/>
              <a:pathLst>
                <a:path w="3263884" h="269335">
                  <a:moveTo>
                    <a:pt x="0" y="0"/>
                  </a:moveTo>
                  <a:lnTo>
                    <a:pt x="3263884" y="0"/>
                  </a:lnTo>
                  <a:lnTo>
                    <a:pt x="3263884" y="269335"/>
                  </a:lnTo>
                  <a:lnTo>
                    <a:pt x="0" y="269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263885" cy="30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382654" y="7095471"/>
            <a:ext cx="250045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DESPLIEGUE: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947719" y="8235668"/>
            <a:ext cx="12392561" cy="1022632"/>
            <a:chOff x="0" y="0"/>
            <a:chExt cx="3263885" cy="2693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63884" cy="269335"/>
            </a:xfrm>
            <a:custGeom>
              <a:avLst/>
              <a:gdLst/>
              <a:ahLst/>
              <a:cxnLst/>
              <a:rect l="l" t="t" r="r" b="b"/>
              <a:pathLst>
                <a:path w="3263884" h="269335">
                  <a:moveTo>
                    <a:pt x="0" y="0"/>
                  </a:moveTo>
                  <a:lnTo>
                    <a:pt x="3263884" y="0"/>
                  </a:lnTo>
                  <a:lnTo>
                    <a:pt x="3263884" y="269335"/>
                  </a:lnTo>
                  <a:lnTo>
                    <a:pt x="0" y="2693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263885" cy="307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382654" y="8403853"/>
            <a:ext cx="3385092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MANTENIMIENTO: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65034" y="1312905"/>
            <a:ext cx="7441167" cy="40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Estudio legal, técnico y planificación inicial.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65034" y="2606433"/>
            <a:ext cx="7441167" cy="40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Estructura de Base de datos, interfaces y lógica.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42436" y="3726035"/>
            <a:ext cx="7441167" cy="78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de cada componente (BD, frontend, backend, reconocimiento facial).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67746" y="5359226"/>
            <a:ext cx="7441167" cy="82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unitarias, de integración, seguridad y usabilidad.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67746" y="7051697"/>
            <a:ext cx="7441167" cy="78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Simulación en entorno real, puesta en marcha y monitorización.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42436" y="8508628"/>
            <a:ext cx="7441167" cy="40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Corrección de errores y mejoras continuas.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722" y="1028700"/>
            <a:ext cx="15897130" cy="8229600"/>
            <a:chOff x="0" y="0"/>
            <a:chExt cx="418689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6898" cy="2167467"/>
            </a:xfrm>
            <a:custGeom>
              <a:avLst/>
              <a:gdLst/>
              <a:ahLst/>
              <a:cxnLst/>
              <a:rect l="l" t="t" r="r" b="b"/>
              <a:pathLst>
                <a:path w="4186898" h="2167467">
                  <a:moveTo>
                    <a:pt x="0" y="0"/>
                  </a:moveTo>
                  <a:lnTo>
                    <a:pt x="4186898" y="0"/>
                  </a:lnTo>
                  <a:lnTo>
                    <a:pt x="41868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689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619236" cy="2299207"/>
            <a:chOff x="0" y="0"/>
            <a:chExt cx="2796836" cy="6055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6836" cy="605553"/>
            </a:xfrm>
            <a:custGeom>
              <a:avLst/>
              <a:gdLst/>
              <a:ahLst/>
              <a:cxnLst/>
              <a:rect l="l" t="t" r="r" b="b"/>
              <a:pathLst>
                <a:path w="2796836" h="605553">
                  <a:moveTo>
                    <a:pt x="0" y="0"/>
                  </a:moveTo>
                  <a:lnTo>
                    <a:pt x="2796836" y="0"/>
                  </a:lnTo>
                  <a:lnTo>
                    <a:pt x="2796836" y="605553"/>
                  </a:lnTo>
                  <a:lnTo>
                    <a:pt x="0" y="605553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96836" cy="64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19236" y="1806856"/>
            <a:ext cx="5468389" cy="6673288"/>
          </a:xfrm>
          <a:custGeom>
            <a:avLst/>
            <a:gdLst/>
            <a:ahLst/>
            <a:cxnLst/>
            <a:rect l="l" t="t" r="r" b="b"/>
            <a:pathLst>
              <a:path w="5468389" h="6673288">
                <a:moveTo>
                  <a:pt x="0" y="0"/>
                </a:moveTo>
                <a:lnTo>
                  <a:pt x="5468389" y="0"/>
                </a:lnTo>
                <a:lnTo>
                  <a:pt x="5468389" y="6673288"/>
                </a:lnTo>
                <a:lnTo>
                  <a:pt x="0" y="6673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6722" y="732472"/>
            <a:ext cx="12659951" cy="11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899" spc="1154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FUNCIONAMIENTO DE LA APLICACIÓN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95411" y="3072146"/>
            <a:ext cx="4228415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399" spc="71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RECONOCIMIENTO FACIAL CON SEGURIDAD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23867" y="4668155"/>
            <a:ext cx="7020133" cy="210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572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Inicio del reconocimiento facial.​</a:t>
            </a:r>
          </a:p>
          <a:p>
            <a:pPr marL="647697" lvl="1" indent="-323848" algn="l">
              <a:lnSpc>
                <a:spcPts val="572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Confirmación de identidad.​</a:t>
            </a:r>
          </a:p>
          <a:p>
            <a:pPr marL="647697" lvl="1" indent="-323848" algn="l">
              <a:lnSpc>
                <a:spcPts val="5729"/>
              </a:lnSpc>
              <a:buAutoNum type="arabicPeriod"/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Identificación del acceso o salida.​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722" y="1028700"/>
            <a:ext cx="15897130" cy="8229600"/>
            <a:chOff x="0" y="0"/>
            <a:chExt cx="418689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6898" cy="2167467"/>
            </a:xfrm>
            <a:custGeom>
              <a:avLst/>
              <a:gdLst/>
              <a:ahLst/>
              <a:cxnLst/>
              <a:rect l="l" t="t" r="r" b="b"/>
              <a:pathLst>
                <a:path w="4186898" h="2167467">
                  <a:moveTo>
                    <a:pt x="0" y="0"/>
                  </a:moveTo>
                  <a:lnTo>
                    <a:pt x="4186898" y="0"/>
                  </a:lnTo>
                  <a:lnTo>
                    <a:pt x="41868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689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619236" cy="2299207"/>
            <a:chOff x="0" y="0"/>
            <a:chExt cx="2796836" cy="6055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6836" cy="605553"/>
            </a:xfrm>
            <a:custGeom>
              <a:avLst/>
              <a:gdLst/>
              <a:ahLst/>
              <a:cxnLst/>
              <a:rect l="l" t="t" r="r" b="b"/>
              <a:pathLst>
                <a:path w="2796836" h="605553">
                  <a:moveTo>
                    <a:pt x="0" y="0"/>
                  </a:moveTo>
                  <a:lnTo>
                    <a:pt x="2796836" y="0"/>
                  </a:lnTo>
                  <a:lnTo>
                    <a:pt x="2796836" y="605553"/>
                  </a:lnTo>
                  <a:lnTo>
                    <a:pt x="0" y="605553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96836" cy="64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19236" y="1718273"/>
            <a:ext cx="5361225" cy="6850454"/>
          </a:xfrm>
          <a:custGeom>
            <a:avLst/>
            <a:gdLst/>
            <a:ahLst/>
            <a:cxnLst/>
            <a:rect l="l" t="t" r="r" b="b"/>
            <a:pathLst>
              <a:path w="5361225" h="6850454">
                <a:moveTo>
                  <a:pt x="0" y="0"/>
                </a:moveTo>
                <a:lnTo>
                  <a:pt x="5361225" y="0"/>
                </a:lnTo>
                <a:lnTo>
                  <a:pt x="5361225" y="6850454"/>
                </a:lnTo>
                <a:lnTo>
                  <a:pt x="0" y="685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6722" y="732472"/>
            <a:ext cx="12659951" cy="11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899" spc="1154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FUNCIONAMIENTO DE LA APLICACIÓN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8283" y="2520558"/>
            <a:ext cx="4228415" cy="69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399" spc="71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PORTAL DE EMPLEADO​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2628" y="3898033"/>
            <a:ext cx="5773981" cy="359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58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Información del empleado</a:t>
            </a:r>
          </a:p>
          <a:p>
            <a:pPr marL="582928" lvl="1" indent="-291464" algn="l">
              <a:lnSpc>
                <a:spcPts val="58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Incidencias</a:t>
            </a:r>
          </a:p>
          <a:p>
            <a:pPr marL="582928" lvl="1" indent="-291464" algn="l">
              <a:lnSpc>
                <a:spcPts val="58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Resumen de actividades</a:t>
            </a:r>
          </a:p>
          <a:p>
            <a:pPr marL="582928" lvl="1" indent="-291464" algn="l">
              <a:lnSpc>
                <a:spcPts val="58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Últimos accesos</a:t>
            </a:r>
          </a:p>
          <a:p>
            <a:pPr marL="582928" lvl="1" indent="-291464" algn="l">
              <a:lnSpc>
                <a:spcPts val="5831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Históricos de registros.​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6722" y="1028700"/>
            <a:ext cx="15897130" cy="8229600"/>
            <a:chOff x="0" y="0"/>
            <a:chExt cx="418689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6898" cy="2167467"/>
            </a:xfrm>
            <a:custGeom>
              <a:avLst/>
              <a:gdLst/>
              <a:ahLst/>
              <a:cxnLst/>
              <a:rect l="l" t="t" r="r" b="b"/>
              <a:pathLst>
                <a:path w="4186898" h="2167467">
                  <a:moveTo>
                    <a:pt x="0" y="0"/>
                  </a:moveTo>
                  <a:lnTo>
                    <a:pt x="4186898" y="0"/>
                  </a:lnTo>
                  <a:lnTo>
                    <a:pt x="4186898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689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881771" cy="2299207"/>
            <a:chOff x="0" y="0"/>
            <a:chExt cx="2602606" cy="6055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02606" cy="605553"/>
            </a:xfrm>
            <a:custGeom>
              <a:avLst/>
              <a:gdLst/>
              <a:ahLst/>
              <a:cxnLst/>
              <a:rect l="l" t="t" r="r" b="b"/>
              <a:pathLst>
                <a:path w="2602606" h="605553">
                  <a:moveTo>
                    <a:pt x="0" y="0"/>
                  </a:moveTo>
                  <a:lnTo>
                    <a:pt x="2602606" y="0"/>
                  </a:lnTo>
                  <a:lnTo>
                    <a:pt x="2602606" y="605553"/>
                  </a:lnTo>
                  <a:lnTo>
                    <a:pt x="0" y="605553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02606" cy="64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881771" y="1300072"/>
            <a:ext cx="6367757" cy="7686857"/>
          </a:xfrm>
          <a:custGeom>
            <a:avLst/>
            <a:gdLst/>
            <a:ahLst/>
            <a:cxnLst/>
            <a:rect l="l" t="t" r="r" b="b"/>
            <a:pathLst>
              <a:path w="6367757" h="7686857">
                <a:moveTo>
                  <a:pt x="0" y="0"/>
                </a:moveTo>
                <a:lnTo>
                  <a:pt x="6367757" y="0"/>
                </a:lnTo>
                <a:lnTo>
                  <a:pt x="6367757" y="7686856"/>
                </a:lnTo>
                <a:lnTo>
                  <a:pt x="0" y="768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7" r="-24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6722" y="732472"/>
            <a:ext cx="12659951" cy="11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899" spc="1154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FUNCIONAMIENTO DE LA APLICACIÓN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26678" y="3005851"/>
            <a:ext cx="4228415" cy="69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399" spc="71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PANEL DE ADMINISTRACION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623" y="3649360"/>
            <a:ext cx="7675377" cy="43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endParaRPr/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 de la plantilla en el centro de trabajo.​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usuarios.​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empleados.​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Exportación de registros.​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Configuración de Roles y ajustes.​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881771" cy="2299207"/>
            <a:chOff x="0" y="0"/>
            <a:chExt cx="2602606" cy="6055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02606" cy="605553"/>
            </a:xfrm>
            <a:custGeom>
              <a:avLst/>
              <a:gdLst/>
              <a:ahLst/>
              <a:cxnLst/>
              <a:rect l="l" t="t" r="r" b="b"/>
              <a:pathLst>
                <a:path w="2602606" h="605553">
                  <a:moveTo>
                    <a:pt x="0" y="0"/>
                  </a:moveTo>
                  <a:lnTo>
                    <a:pt x="2602606" y="0"/>
                  </a:lnTo>
                  <a:lnTo>
                    <a:pt x="2602606" y="605553"/>
                  </a:lnTo>
                  <a:lnTo>
                    <a:pt x="0" y="605553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02606" cy="643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6722" y="1750606"/>
            <a:ext cx="16426660" cy="7012729"/>
            <a:chOff x="0" y="0"/>
            <a:chExt cx="4326363" cy="18469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26363" cy="1846974"/>
            </a:xfrm>
            <a:custGeom>
              <a:avLst/>
              <a:gdLst/>
              <a:ahLst/>
              <a:cxnLst/>
              <a:rect l="l" t="t" r="r" b="b"/>
              <a:pathLst>
                <a:path w="4326363" h="1846974">
                  <a:moveTo>
                    <a:pt x="0" y="0"/>
                  </a:moveTo>
                  <a:lnTo>
                    <a:pt x="4326363" y="0"/>
                  </a:lnTo>
                  <a:lnTo>
                    <a:pt x="4326363" y="1846974"/>
                  </a:lnTo>
                  <a:lnTo>
                    <a:pt x="0" y="18469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26363" cy="1885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709371" y="3679552"/>
            <a:ext cx="8615787" cy="3058605"/>
          </a:xfrm>
          <a:custGeom>
            <a:avLst/>
            <a:gdLst/>
            <a:ahLst/>
            <a:cxnLst/>
            <a:rect l="l" t="t" r="r" b="b"/>
            <a:pathLst>
              <a:path w="8615787" h="3058605">
                <a:moveTo>
                  <a:pt x="0" y="0"/>
                </a:moveTo>
                <a:lnTo>
                  <a:pt x="8615787" y="0"/>
                </a:lnTo>
                <a:lnTo>
                  <a:pt x="8615787" y="3058605"/>
                </a:lnTo>
                <a:lnTo>
                  <a:pt x="0" y="3058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6722" y="732472"/>
            <a:ext cx="12659951" cy="112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899" spc="1154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FUNCIONAMIENTO DE LA APLICACIÓN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77622" y="3167298"/>
            <a:ext cx="4228415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399" spc="71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SINCRONIZACIÓN CON FRONTEND Y 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1995" y="4563282"/>
            <a:ext cx="6621415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PHP y AJAX gestionan las sesiones, las vistas y el acceso a la información desde el portal del empleado y el panel de administración.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2485" y="0"/>
            <a:ext cx="9323664" cy="10481799"/>
            <a:chOff x="0" y="0"/>
            <a:chExt cx="2455615" cy="27606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615" cy="2760638"/>
            </a:xfrm>
            <a:custGeom>
              <a:avLst/>
              <a:gdLst/>
              <a:ahLst/>
              <a:cxnLst/>
              <a:rect l="l" t="t" r="r" b="b"/>
              <a:pathLst>
                <a:path w="2455615" h="2760638">
                  <a:moveTo>
                    <a:pt x="0" y="0"/>
                  </a:moveTo>
                  <a:lnTo>
                    <a:pt x="2455615" y="0"/>
                  </a:lnTo>
                  <a:lnTo>
                    <a:pt x="2455615" y="2760638"/>
                  </a:lnTo>
                  <a:lnTo>
                    <a:pt x="0" y="2760638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55615" cy="2798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83708" y="3350706"/>
            <a:ext cx="6557948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FICHAJE: </a:t>
            </a: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empleado realiza el fichaje por reconocimiento facial en las entradas y salidas de cada día.​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DECLARAR INCIDENCIA​: </a:t>
            </a: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Accediendo a su portal, revisa sus accesos y declara las incidencias que encuentre.​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INFORME MENSUAL​: </a:t>
            </a: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final de mes revisa sus horas​ trabajadas mediante el filtro de registros.​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35051" y="2924892"/>
            <a:ext cx="6855264" cy="5847810"/>
            <a:chOff x="0" y="0"/>
            <a:chExt cx="1805502" cy="15401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502" cy="1540164"/>
            </a:xfrm>
            <a:custGeom>
              <a:avLst/>
              <a:gdLst/>
              <a:ahLst/>
              <a:cxnLst/>
              <a:rect l="l" t="t" r="r" b="b"/>
              <a:pathLst>
                <a:path w="1805502" h="1540164">
                  <a:moveTo>
                    <a:pt x="0" y="0"/>
                  </a:moveTo>
                  <a:lnTo>
                    <a:pt x="1805502" y="0"/>
                  </a:lnTo>
                  <a:lnTo>
                    <a:pt x="1805502" y="1540164"/>
                  </a:lnTo>
                  <a:lnTo>
                    <a:pt x="0" y="15401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05502" cy="1578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871179" y="92877"/>
            <a:ext cx="9416821" cy="10194123"/>
          </a:xfrm>
          <a:custGeom>
            <a:avLst/>
            <a:gdLst/>
            <a:ahLst/>
            <a:cxnLst/>
            <a:rect l="l" t="t" r="r" b="b"/>
            <a:pathLst>
              <a:path w="9416821" h="10194123">
                <a:moveTo>
                  <a:pt x="0" y="0"/>
                </a:moveTo>
                <a:lnTo>
                  <a:pt x="9416821" y="0"/>
                </a:lnTo>
                <a:lnTo>
                  <a:pt x="9416821" y="10194123"/>
                </a:lnTo>
                <a:lnTo>
                  <a:pt x="0" y="10194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83708" y="1057275"/>
            <a:ext cx="6260633" cy="1293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FLUJO TÍPICO DE TRABAJO​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7539" y="1421315"/>
            <a:ext cx="15632921" cy="7444371"/>
            <a:chOff x="0" y="0"/>
            <a:chExt cx="4117313" cy="19606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7313" cy="1960657"/>
            </a:xfrm>
            <a:custGeom>
              <a:avLst/>
              <a:gdLst/>
              <a:ahLst/>
              <a:cxnLst/>
              <a:rect l="l" t="t" r="r" b="b"/>
              <a:pathLst>
                <a:path w="4117313" h="1960657">
                  <a:moveTo>
                    <a:pt x="0" y="0"/>
                  </a:moveTo>
                  <a:lnTo>
                    <a:pt x="4117313" y="0"/>
                  </a:lnTo>
                  <a:lnTo>
                    <a:pt x="4117313" y="1960657"/>
                  </a:lnTo>
                  <a:lnTo>
                    <a:pt x="0" y="1960657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17313" cy="1998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51319" y="3848100"/>
            <a:ext cx="7471162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Horas estimadas: 250 horas​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Coste total: ~9.700€​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Licencias: 0€ (Uso de software libre)​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Herramientas: GitHub, Jira, VS Code​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Portal del empleado</a:t>
            </a:r>
          </a:p>
          <a:p>
            <a:pPr marL="604518" lvl="1" indent="-302259" algn="l">
              <a:lnSpc>
                <a:spcPts val="3919"/>
              </a:lnSpc>
              <a:buAutoNum type="arabicPeriod"/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Panel de administración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441939" y="3518861"/>
            <a:ext cx="7689922" cy="3673457"/>
            <a:chOff x="0" y="0"/>
            <a:chExt cx="2025329" cy="9674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5329" cy="967495"/>
            </a:xfrm>
            <a:custGeom>
              <a:avLst/>
              <a:gdLst/>
              <a:ahLst/>
              <a:cxnLst/>
              <a:rect l="l" t="t" r="r" b="b"/>
              <a:pathLst>
                <a:path w="2025329" h="967495">
                  <a:moveTo>
                    <a:pt x="0" y="0"/>
                  </a:moveTo>
                  <a:lnTo>
                    <a:pt x="2025329" y="0"/>
                  </a:lnTo>
                  <a:lnTo>
                    <a:pt x="2025329" y="967495"/>
                  </a:lnTo>
                  <a:lnTo>
                    <a:pt x="0" y="9674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5329" cy="1005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13503" y="3379017"/>
            <a:ext cx="5494312" cy="4738844"/>
          </a:xfrm>
          <a:custGeom>
            <a:avLst/>
            <a:gdLst/>
            <a:ahLst/>
            <a:cxnLst/>
            <a:rect l="l" t="t" r="r" b="b"/>
            <a:pathLst>
              <a:path w="5494312" h="4738844">
                <a:moveTo>
                  <a:pt x="0" y="0"/>
                </a:moveTo>
                <a:lnTo>
                  <a:pt x="5494312" y="0"/>
                </a:lnTo>
                <a:lnTo>
                  <a:pt x="5494312" y="4738844"/>
                </a:lnTo>
                <a:lnTo>
                  <a:pt x="0" y="473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46601" y="2414237"/>
            <a:ext cx="11394797" cy="65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PLANIFICACIÓN Y COSTOS​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6767" y="1662661"/>
            <a:ext cx="15872145" cy="6961679"/>
            <a:chOff x="0" y="0"/>
            <a:chExt cx="4180318" cy="183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0318" cy="1833529"/>
            </a:xfrm>
            <a:custGeom>
              <a:avLst/>
              <a:gdLst/>
              <a:ahLst/>
              <a:cxnLst/>
              <a:rect l="l" t="t" r="r" b="b"/>
              <a:pathLst>
                <a:path w="4180318" h="1833529">
                  <a:moveTo>
                    <a:pt x="0" y="0"/>
                  </a:moveTo>
                  <a:lnTo>
                    <a:pt x="4180318" y="0"/>
                  </a:lnTo>
                  <a:lnTo>
                    <a:pt x="4180318" y="1833529"/>
                  </a:lnTo>
                  <a:lnTo>
                    <a:pt x="0" y="18335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0318" cy="187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787195" cy="1990479"/>
            <a:chOff x="0" y="0"/>
            <a:chExt cx="2841072" cy="5242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1072" cy="524241"/>
            </a:xfrm>
            <a:custGeom>
              <a:avLst/>
              <a:gdLst/>
              <a:ahLst/>
              <a:cxnLst/>
              <a:rect l="l" t="t" r="r" b="b"/>
              <a:pathLst>
                <a:path w="2841072" h="524241">
                  <a:moveTo>
                    <a:pt x="0" y="0"/>
                  </a:moveTo>
                  <a:lnTo>
                    <a:pt x="2841072" y="0"/>
                  </a:lnTo>
                  <a:lnTo>
                    <a:pt x="2841072" y="524241"/>
                  </a:lnTo>
                  <a:lnTo>
                    <a:pt x="0" y="524241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1072" cy="562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5993" y="705803"/>
            <a:ext cx="11394797" cy="57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7"/>
              </a:lnSpc>
              <a:spcBef>
                <a:spcPct val="0"/>
              </a:spcBef>
            </a:pPr>
            <a:r>
              <a:rPr lang="en-US" sz="3899" spc="1154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REQUISITOS FUNCIONALES​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901775-F859-D374-7DC5-F899696AC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025441"/>
              </p:ext>
            </p:extLst>
          </p:nvPr>
        </p:nvGraphicFramePr>
        <p:xfrm>
          <a:off x="2296583" y="2973916"/>
          <a:ext cx="13802649" cy="435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31860">
                  <a:extLst>
                    <a:ext uri="{9D8B030D-6E8A-4147-A177-3AD203B41FA5}">
                      <a16:colId xmlns:a16="http://schemas.microsoft.com/office/drawing/2014/main" val="2135255500"/>
                    </a:ext>
                  </a:extLst>
                </a:gridCol>
                <a:gridCol w="9270789">
                  <a:extLst>
                    <a:ext uri="{9D8B030D-6E8A-4147-A177-3AD203B41FA5}">
                      <a16:colId xmlns:a16="http://schemas.microsoft.com/office/drawing/2014/main" val="3643601144"/>
                    </a:ext>
                  </a:extLst>
                </a:gridCol>
              </a:tblGrid>
              <a:tr h="870688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Requisito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Detalles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810840"/>
                  </a:ext>
                </a:extLst>
              </a:tr>
              <a:tr h="8706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Autenticación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usuarios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Datos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biométricos</a:t>
                      </a:r>
                      <a:r>
                        <a:rPr lang="en-US" dirty="0">
                          <a:effectLst/>
                          <a:latin typeface="Lovelo"/>
                        </a:rPr>
                        <a:t>,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registro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imagen 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identificación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tiempo</a:t>
                      </a:r>
                      <a:r>
                        <a:rPr lang="en-US" dirty="0">
                          <a:effectLst/>
                          <a:latin typeface="Lovelo"/>
                        </a:rPr>
                        <a:t> real.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90692"/>
                  </a:ext>
                </a:extLst>
              </a:tr>
              <a:tr h="8706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Control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asistencia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Registro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acceso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automático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774718"/>
                  </a:ext>
                </a:extLst>
              </a:tr>
              <a:tr h="8706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Gestión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datos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Almacenamiento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registros</a:t>
                      </a:r>
                      <a:r>
                        <a:rPr lang="en-US" dirty="0">
                          <a:effectLst/>
                          <a:latin typeface="Lovelo"/>
                        </a:rPr>
                        <a:t>,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generación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reportes</a:t>
                      </a:r>
                      <a:r>
                        <a:rPr lang="en-US" dirty="0">
                          <a:effectLst/>
                          <a:latin typeface="Lovelo"/>
                        </a:rPr>
                        <a:t> y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exportación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319099"/>
                  </a:ext>
                </a:extLst>
              </a:tr>
              <a:tr h="8706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Gestión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Incidencias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Generación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avisos</a:t>
                      </a:r>
                      <a:r>
                        <a:rPr lang="en-US" dirty="0">
                          <a:effectLst/>
                          <a:latin typeface="Lovelo"/>
                        </a:rPr>
                        <a:t> para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corregir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incidencias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3956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6767" y="1662661"/>
            <a:ext cx="15872145" cy="6961679"/>
            <a:chOff x="0" y="0"/>
            <a:chExt cx="4180318" cy="183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0318" cy="1833529"/>
            </a:xfrm>
            <a:custGeom>
              <a:avLst/>
              <a:gdLst/>
              <a:ahLst/>
              <a:cxnLst/>
              <a:rect l="l" t="t" r="r" b="b"/>
              <a:pathLst>
                <a:path w="4180318" h="1833529">
                  <a:moveTo>
                    <a:pt x="0" y="0"/>
                  </a:moveTo>
                  <a:lnTo>
                    <a:pt x="4180318" y="0"/>
                  </a:lnTo>
                  <a:lnTo>
                    <a:pt x="4180318" y="1833529"/>
                  </a:lnTo>
                  <a:lnTo>
                    <a:pt x="0" y="18335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0318" cy="187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787195" cy="1990479"/>
            <a:chOff x="0" y="0"/>
            <a:chExt cx="2841072" cy="5242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1072" cy="524241"/>
            </a:xfrm>
            <a:custGeom>
              <a:avLst/>
              <a:gdLst/>
              <a:ahLst/>
              <a:cxnLst/>
              <a:rect l="l" t="t" r="r" b="b"/>
              <a:pathLst>
                <a:path w="2841072" h="524241">
                  <a:moveTo>
                    <a:pt x="0" y="0"/>
                  </a:moveTo>
                  <a:lnTo>
                    <a:pt x="2841072" y="0"/>
                  </a:lnTo>
                  <a:lnTo>
                    <a:pt x="2841072" y="524241"/>
                  </a:lnTo>
                  <a:lnTo>
                    <a:pt x="0" y="524241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41072" cy="562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2868" y="733556"/>
            <a:ext cx="11394797" cy="54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  <a:spcBef>
                <a:spcPct val="0"/>
              </a:spcBef>
            </a:pPr>
            <a:r>
              <a:rPr lang="en-US" sz="3699" spc="109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REQUISITOS NO FUNCIONALES​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872CA9-2F2F-2926-AA74-4D1F273ED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759308"/>
              </p:ext>
            </p:extLst>
          </p:nvPr>
        </p:nvGraphicFramePr>
        <p:xfrm>
          <a:off x="3079750" y="2967322"/>
          <a:ext cx="12238181" cy="43523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56520">
                  <a:extLst>
                    <a:ext uri="{9D8B030D-6E8A-4147-A177-3AD203B41FA5}">
                      <a16:colId xmlns:a16="http://schemas.microsoft.com/office/drawing/2014/main" val="2025132975"/>
                    </a:ext>
                  </a:extLst>
                </a:gridCol>
                <a:gridCol w="7181661">
                  <a:extLst>
                    <a:ext uri="{9D8B030D-6E8A-4147-A177-3AD203B41FA5}">
                      <a16:colId xmlns:a16="http://schemas.microsoft.com/office/drawing/2014/main" val="173412777"/>
                    </a:ext>
                  </a:extLst>
                </a:gridCol>
              </a:tblGrid>
              <a:tr h="870471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Requisito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Detalles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636763"/>
                  </a:ext>
                </a:extLst>
              </a:tr>
              <a:tr h="87047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Lovelo"/>
                        </a:rPr>
                        <a:t>Seguridad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Encriptación</a:t>
                      </a:r>
                      <a:r>
                        <a:rPr lang="en-US">
                          <a:effectLst/>
                          <a:latin typeface="Lovelo"/>
                        </a:rPr>
                        <a:t> AES-256, TLS.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518143"/>
                  </a:ext>
                </a:extLst>
              </a:tr>
              <a:tr h="870471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Disponibilidad</a:t>
                      </a:r>
                      <a:endParaRPr lang="en-US" dirty="0" err="1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Soporte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err="1">
                          <a:effectLst/>
                          <a:latin typeface="Lovelo"/>
                        </a:rPr>
                        <a:t>multiplataforma</a:t>
                      </a:r>
                      <a:r>
                        <a:rPr lang="en-US">
                          <a:effectLst/>
                          <a:latin typeface="Lovelo"/>
                        </a:rPr>
                        <a:t> y </a:t>
                      </a:r>
                      <a:r>
                        <a:rPr lang="en-US" err="1">
                          <a:effectLst/>
                          <a:latin typeface="Lovelo"/>
                        </a:rPr>
                        <a:t>multidispositivo</a:t>
                      </a:r>
                      <a:r>
                        <a:rPr lang="en-US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67018"/>
                  </a:ext>
                </a:extLst>
              </a:tr>
              <a:tr h="870471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Precisión</a:t>
                      </a:r>
                      <a:endParaRPr lang="en-US" dirty="0" err="1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99%por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ciento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acierto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menos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10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segundos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066247"/>
                  </a:ext>
                </a:extLst>
              </a:tr>
              <a:tr h="870471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Integración</a:t>
                      </a:r>
                      <a:endParaRPr lang="en-US" dirty="0" err="1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Sistema modular integrable con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otras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aplicaciones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776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6767" y="1662661"/>
            <a:ext cx="15872145" cy="6961679"/>
            <a:chOff x="0" y="0"/>
            <a:chExt cx="4180318" cy="18335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0318" cy="1833529"/>
            </a:xfrm>
            <a:custGeom>
              <a:avLst/>
              <a:gdLst/>
              <a:ahLst/>
              <a:cxnLst/>
              <a:rect l="l" t="t" r="r" b="b"/>
              <a:pathLst>
                <a:path w="4180318" h="1833529">
                  <a:moveTo>
                    <a:pt x="0" y="0"/>
                  </a:moveTo>
                  <a:lnTo>
                    <a:pt x="4180318" y="0"/>
                  </a:lnTo>
                  <a:lnTo>
                    <a:pt x="4180318" y="1833529"/>
                  </a:lnTo>
                  <a:lnTo>
                    <a:pt x="0" y="18335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0318" cy="1871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197014" cy="1990479"/>
            <a:chOff x="0" y="0"/>
            <a:chExt cx="2158884" cy="5242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8884" cy="524241"/>
            </a:xfrm>
            <a:custGeom>
              <a:avLst/>
              <a:gdLst/>
              <a:ahLst/>
              <a:cxnLst/>
              <a:rect l="l" t="t" r="r" b="b"/>
              <a:pathLst>
                <a:path w="2158884" h="524241">
                  <a:moveTo>
                    <a:pt x="0" y="0"/>
                  </a:moveTo>
                  <a:lnTo>
                    <a:pt x="2158884" y="0"/>
                  </a:lnTo>
                  <a:lnTo>
                    <a:pt x="2158884" y="524241"/>
                  </a:lnTo>
                  <a:lnTo>
                    <a:pt x="0" y="524241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58884" cy="562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91680" y="575187"/>
            <a:ext cx="7703900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  <a:spcBef>
                <a:spcPct val="0"/>
              </a:spcBef>
            </a:pPr>
            <a:r>
              <a:rPr lang="en-US" sz="3699" spc="109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REQUISITOS TÉCNICOS</a:t>
            </a:r>
          </a:p>
          <a:p>
            <a:pPr algn="l">
              <a:lnSpc>
                <a:spcPts val="2575"/>
              </a:lnSpc>
              <a:spcBef>
                <a:spcPct val="0"/>
              </a:spcBef>
            </a:pPr>
            <a:r>
              <a:rPr lang="en-US" sz="2299" spc="68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HARDWARE Y SOFWARE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256E9C-DD23-7820-A885-73CC2A1A1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19777"/>
              </p:ext>
            </p:extLst>
          </p:nvPr>
        </p:nvGraphicFramePr>
        <p:xfrm>
          <a:off x="2836333" y="2572818"/>
          <a:ext cx="13165694" cy="21356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82847">
                  <a:extLst>
                    <a:ext uri="{9D8B030D-6E8A-4147-A177-3AD203B41FA5}">
                      <a16:colId xmlns:a16="http://schemas.microsoft.com/office/drawing/2014/main" val="876734369"/>
                    </a:ext>
                  </a:extLst>
                </a:gridCol>
                <a:gridCol w="6582847">
                  <a:extLst>
                    <a:ext uri="{9D8B030D-6E8A-4147-A177-3AD203B41FA5}">
                      <a16:colId xmlns:a16="http://schemas.microsoft.com/office/drawing/2014/main" val="3787873332"/>
                    </a:ext>
                  </a:extLst>
                </a:gridCol>
              </a:tblGrid>
              <a:tr h="749999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Requisito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Detalles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44624"/>
                  </a:ext>
                </a:extLst>
              </a:tr>
              <a:tr h="692849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Cámaras</a:t>
                      </a:r>
                      <a:endParaRPr lang="en-US" dirty="0" err="1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Resolución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mínima</a:t>
                      </a:r>
                      <a:r>
                        <a:rPr lang="en-US" dirty="0">
                          <a:effectLst/>
                          <a:latin typeface="Lovelo"/>
                        </a:rPr>
                        <a:t> de 640x480px para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equipos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820899"/>
                  </a:ext>
                </a:extLst>
              </a:tr>
              <a:tr h="692849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Servidor</a:t>
                      </a:r>
                      <a:endParaRPr lang="en-US" dirty="0" err="1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Local o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dirty="0">
                          <a:effectLst/>
                          <a:latin typeface="Lovelo"/>
                        </a:rPr>
                        <a:t> la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nube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26893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0066E28-BC27-9CA4-A877-515B3B1BC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086700"/>
              </p:ext>
            </p:extLst>
          </p:nvPr>
        </p:nvGraphicFramePr>
        <p:xfrm>
          <a:off x="2836333" y="5139406"/>
          <a:ext cx="13186840" cy="29080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93420">
                  <a:extLst>
                    <a:ext uri="{9D8B030D-6E8A-4147-A177-3AD203B41FA5}">
                      <a16:colId xmlns:a16="http://schemas.microsoft.com/office/drawing/2014/main" val="124711988"/>
                    </a:ext>
                  </a:extLst>
                </a:gridCol>
                <a:gridCol w="6593420">
                  <a:extLst>
                    <a:ext uri="{9D8B030D-6E8A-4147-A177-3AD203B41FA5}">
                      <a16:colId xmlns:a16="http://schemas.microsoft.com/office/drawing/2014/main" val="3135751333"/>
                    </a:ext>
                  </a:extLst>
                </a:gridCol>
              </a:tblGrid>
              <a:tr h="969340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Requisito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Detalles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33506"/>
                  </a:ext>
                </a:extLst>
              </a:tr>
              <a:tr h="969340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Servidor</a:t>
                      </a:r>
                      <a:r>
                        <a:rPr lang="en-US" dirty="0">
                          <a:effectLst/>
                          <a:latin typeface="Lovelo"/>
                        </a:rPr>
                        <a:t> web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PHP + Node.JS + BBDD para </a:t>
                      </a:r>
                      <a:r>
                        <a:rPr lang="en-US" err="1">
                          <a:effectLst/>
                          <a:latin typeface="Lovelo"/>
                        </a:rPr>
                        <a:t>alojar</a:t>
                      </a:r>
                      <a:r>
                        <a:rPr lang="en-US" dirty="0">
                          <a:effectLst/>
                          <a:latin typeface="Lovelo"/>
                        </a:rPr>
                        <a:t> la </a:t>
                      </a:r>
                      <a:r>
                        <a:rPr lang="en-US" err="1">
                          <a:effectLst/>
                          <a:latin typeface="Lovelo"/>
                        </a:rPr>
                        <a:t>aplicación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75236"/>
                  </a:ext>
                </a:extLst>
              </a:tr>
              <a:tr h="969340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Navegador</a:t>
                      </a:r>
                      <a:endParaRPr lang="en-US" dirty="0" err="1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effectLst/>
                          <a:latin typeface="Lovelo"/>
                        </a:rPr>
                        <a:t>Soporte</a:t>
                      </a:r>
                      <a:r>
                        <a:rPr lang="en-US" dirty="0">
                          <a:effectLst/>
                          <a:latin typeface="Lovelo"/>
                        </a:rPr>
                        <a:t> para JavaScript para usar la </a:t>
                      </a:r>
                      <a:r>
                        <a:rPr lang="en-US" dirty="0" err="1">
                          <a:effectLst/>
                          <a:latin typeface="Lovelo"/>
                        </a:rPr>
                        <a:t>aplicación</a:t>
                      </a:r>
                      <a:r>
                        <a:rPr lang="en-US" dirty="0">
                          <a:effectLst/>
                          <a:latin typeface="Lovelo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835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4697" y="1336096"/>
            <a:ext cx="15872145" cy="8117360"/>
            <a:chOff x="0" y="0"/>
            <a:chExt cx="4180318" cy="21379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0318" cy="2137906"/>
            </a:xfrm>
            <a:custGeom>
              <a:avLst/>
              <a:gdLst/>
              <a:ahLst/>
              <a:cxnLst/>
              <a:rect l="l" t="t" r="r" b="b"/>
              <a:pathLst>
                <a:path w="4180318" h="2137906">
                  <a:moveTo>
                    <a:pt x="0" y="0"/>
                  </a:moveTo>
                  <a:lnTo>
                    <a:pt x="4180318" y="0"/>
                  </a:lnTo>
                  <a:lnTo>
                    <a:pt x="4180318" y="2137906"/>
                  </a:lnTo>
                  <a:lnTo>
                    <a:pt x="0" y="2137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80318" cy="2176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86411" y="0"/>
            <a:ext cx="6292907" cy="2712788"/>
            <a:chOff x="0" y="0"/>
            <a:chExt cx="1657391" cy="7144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7391" cy="714479"/>
            </a:xfrm>
            <a:custGeom>
              <a:avLst/>
              <a:gdLst/>
              <a:ahLst/>
              <a:cxnLst/>
              <a:rect l="l" t="t" r="r" b="b"/>
              <a:pathLst>
                <a:path w="1657391" h="714479">
                  <a:moveTo>
                    <a:pt x="0" y="0"/>
                  </a:moveTo>
                  <a:lnTo>
                    <a:pt x="1657391" y="0"/>
                  </a:lnTo>
                  <a:lnTo>
                    <a:pt x="1657391" y="714479"/>
                  </a:lnTo>
                  <a:lnTo>
                    <a:pt x="0" y="714479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57391" cy="752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142307" y="3172104"/>
            <a:ext cx="11301259" cy="5760707"/>
          </a:xfrm>
          <a:custGeom>
            <a:avLst/>
            <a:gdLst/>
            <a:ahLst/>
            <a:cxnLst/>
            <a:rect l="l" t="t" r="r" b="b"/>
            <a:pathLst>
              <a:path w="11301259" h="5760707">
                <a:moveTo>
                  <a:pt x="0" y="0"/>
                </a:moveTo>
                <a:lnTo>
                  <a:pt x="11301259" y="0"/>
                </a:lnTo>
                <a:lnTo>
                  <a:pt x="11301259" y="5760707"/>
                </a:lnTo>
                <a:lnTo>
                  <a:pt x="0" y="5760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7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35466" y="715328"/>
            <a:ext cx="11394797" cy="65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DISEÑO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61629" y="1299244"/>
            <a:ext cx="474247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ENTIDADES​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37317A4-40FB-021C-8A2B-7C7FB615A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27607"/>
              </p:ext>
            </p:extLst>
          </p:nvPr>
        </p:nvGraphicFramePr>
        <p:xfrm>
          <a:off x="13779500" y="3485548"/>
          <a:ext cx="3005715" cy="46282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05715">
                  <a:extLst>
                    <a:ext uri="{9D8B030D-6E8A-4147-A177-3AD203B41FA5}">
                      <a16:colId xmlns:a16="http://schemas.microsoft.com/office/drawing/2014/main" val="18182149"/>
                    </a:ext>
                  </a:extLst>
                </a:gridCol>
              </a:tblGrid>
              <a:tr h="771373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tablas</a:t>
                      </a:r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 </a:t>
                      </a:r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principales</a:t>
                      </a:r>
                      <a:endParaRPr lang="en-US" dirty="0" err="1">
                        <a:solidFill>
                          <a:srgbClr val="FFFFFF"/>
                        </a:solidFill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2388"/>
                  </a:ext>
                </a:extLst>
              </a:tr>
              <a:tr h="771373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empleado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89344"/>
                  </a:ext>
                </a:extLst>
              </a:tr>
              <a:tr h="771373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usuario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426319"/>
                  </a:ext>
                </a:extLst>
              </a:tr>
              <a:tr h="771373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effectLst/>
                          <a:latin typeface="Lovelo"/>
                        </a:rPr>
                        <a:t>marcaje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292952"/>
                  </a:ext>
                </a:extLst>
              </a:tr>
              <a:tr h="771373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Lovelo"/>
                        </a:rPr>
                        <a:t>BIO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795241"/>
                  </a:ext>
                </a:extLst>
              </a:tr>
              <a:tr h="7713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  <a:latin typeface="Lovelo"/>
                        </a:rPr>
                        <a:t>ROL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6609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0260" y="813737"/>
            <a:ext cx="11906667" cy="8840700"/>
          </a:xfrm>
          <a:custGeom>
            <a:avLst/>
            <a:gdLst/>
            <a:ahLst/>
            <a:cxnLst/>
            <a:rect l="l" t="t" r="r" b="b"/>
            <a:pathLst>
              <a:path w="11906667" h="8840700">
                <a:moveTo>
                  <a:pt x="0" y="0"/>
                </a:moveTo>
                <a:lnTo>
                  <a:pt x="11906667" y="0"/>
                </a:lnTo>
                <a:lnTo>
                  <a:pt x="11906667" y="8840700"/>
                </a:lnTo>
                <a:lnTo>
                  <a:pt x="0" y="884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78490" y="0"/>
            <a:ext cx="7394907" cy="1627473"/>
            <a:chOff x="0" y="0"/>
            <a:chExt cx="1947630" cy="4286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47630" cy="428635"/>
            </a:xfrm>
            <a:custGeom>
              <a:avLst/>
              <a:gdLst/>
              <a:ahLst/>
              <a:cxnLst/>
              <a:rect l="l" t="t" r="r" b="b"/>
              <a:pathLst>
                <a:path w="1947630" h="428635">
                  <a:moveTo>
                    <a:pt x="0" y="0"/>
                  </a:moveTo>
                  <a:lnTo>
                    <a:pt x="1947630" y="0"/>
                  </a:lnTo>
                  <a:lnTo>
                    <a:pt x="1947630" y="428635"/>
                  </a:lnTo>
                  <a:lnTo>
                    <a:pt x="0" y="428635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47630" cy="466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90260" y="500364"/>
            <a:ext cx="6226335" cy="65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CASOS DE USO​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978EBB-0000-F723-482A-BA9221136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11384"/>
              </p:ext>
            </p:extLst>
          </p:nvPr>
        </p:nvGraphicFramePr>
        <p:xfrm>
          <a:off x="11557000" y="3543533"/>
          <a:ext cx="6032532" cy="507751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3907">
                  <a:extLst>
                    <a:ext uri="{9D8B030D-6E8A-4147-A177-3AD203B41FA5}">
                      <a16:colId xmlns:a16="http://schemas.microsoft.com/office/drawing/2014/main" val="2910845201"/>
                    </a:ext>
                  </a:extLst>
                </a:gridCol>
                <a:gridCol w="3408625">
                  <a:extLst>
                    <a:ext uri="{9D8B030D-6E8A-4147-A177-3AD203B41FA5}">
                      <a16:colId xmlns:a16="http://schemas.microsoft.com/office/drawing/2014/main" val="2342698404"/>
                    </a:ext>
                  </a:extLst>
                </a:gridCol>
              </a:tblGrid>
              <a:tr h="13123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Rol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solidFill>
                            <a:srgbClr val="FFFFFF"/>
                          </a:solidFill>
                          <a:effectLst/>
                          <a:latin typeface="Lovelo"/>
                        </a:rPr>
                        <a:t>Funciones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556186"/>
                  </a:ext>
                </a:extLst>
              </a:tr>
              <a:tr h="1255060"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effectLst/>
                          <a:latin typeface="Lovelo"/>
                        </a:rPr>
                        <a:t>Conserje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Inicio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del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sistema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fichajes</a:t>
                      </a:r>
                      <a:endParaRPr lang="en-US" sz="1400">
                        <a:effectLst/>
                        <a:latin typeface="Lovelo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Registro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de entradas y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salidas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232505"/>
                  </a:ext>
                </a:extLst>
              </a:tr>
              <a:tr h="1255060"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effectLst/>
                          <a:latin typeface="Lovelo"/>
                        </a:rPr>
                        <a:t>Empleado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Revisión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accesos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el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portal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Declaración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de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incidencias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788749"/>
                  </a:ext>
                </a:extLst>
              </a:tr>
              <a:tr h="1255060">
                <a:tc>
                  <a:txBody>
                    <a:bodyPr/>
                    <a:lstStyle/>
                    <a:p>
                      <a:pPr algn="ctr"/>
                      <a:r>
                        <a:rPr lang="en-US" sz="1400" err="1">
                          <a:effectLst/>
                          <a:latin typeface="Lovelo"/>
                        </a:rPr>
                        <a:t>Administrador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effectLst/>
                          <a:latin typeface="Lovelo"/>
                        </a:rPr>
                        <a:t>CRUD de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usuarios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y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empleados</a:t>
                      </a:r>
                      <a:endParaRPr lang="en-US" sz="1400">
                        <a:effectLst/>
                        <a:latin typeface="Lovelo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400" dirty="0">
                          <a:effectLst/>
                          <a:latin typeface="Lovelo"/>
                        </a:rPr>
                        <a:t>Generación de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informes</a:t>
                      </a:r>
                      <a:endParaRPr lang="en-US" sz="1400">
                        <a:effectLst/>
                        <a:latin typeface="Lovelo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Restablecer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contraseñas</a:t>
                      </a:r>
                      <a:endParaRPr lang="en-US" sz="1400">
                        <a:effectLst/>
                        <a:latin typeface="Lovelo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400" err="1">
                          <a:effectLst/>
                          <a:latin typeface="Lovelo"/>
                        </a:rPr>
                        <a:t>Parametrizar</a:t>
                      </a:r>
                      <a:r>
                        <a:rPr lang="en-US" sz="1400" dirty="0">
                          <a:effectLst/>
                          <a:latin typeface="Lovelo"/>
                        </a:rPr>
                        <a:t> </a:t>
                      </a:r>
                      <a:r>
                        <a:rPr lang="en-US" sz="1400" err="1">
                          <a:effectLst/>
                          <a:latin typeface="Lovelo"/>
                        </a:rPr>
                        <a:t>aplicación</a:t>
                      </a:r>
                      <a:endParaRPr lang="en-US" sz="1400">
                        <a:effectLst/>
                        <a:latin typeface="Lovelo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015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0107" y="3317001"/>
            <a:ext cx="2892507" cy="5941299"/>
            <a:chOff x="0" y="0"/>
            <a:chExt cx="761813" cy="1564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1813" cy="1564787"/>
            </a:xfrm>
            <a:custGeom>
              <a:avLst/>
              <a:gdLst/>
              <a:ahLst/>
              <a:cxnLst/>
              <a:rect l="l" t="t" r="r" b="b"/>
              <a:pathLst>
                <a:path w="761813" h="1564787">
                  <a:moveTo>
                    <a:pt x="0" y="0"/>
                  </a:moveTo>
                  <a:lnTo>
                    <a:pt x="761813" y="0"/>
                  </a:lnTo>
                  <a:lnTo>
                    <a:pt x="761813" y="1564787"/>
                  </a:lnTo>
                  <a:lnTo>
                    <a:pt x="0" y="1564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61813" cy="1602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758115"/>
            <a:ext cx="6360661" cy="1139283"/>
            <a:chOff x="0" y="0"/>
            <a:chExt cx="1675236" cy="3000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75236" cy="300058"/>
            </a:xfrm>
            <a:custGeom>
              <a:avLst/>
              <a:gdLst/>
              <a:ahLst/>
              <a:cxnLst/>
              <a:rect l="l" t="t" r="r" b="b"/>
              <a:pathLst>
                <a:path w="1675236" h="300058">
                  <a:moveTo>
                    <a:pt x="0" y="0"/>
                  </a:moveTo>
                  <a:lnTo>
                    <a:pt x="1675236" y="0"/>
                  </a:lnTo>
                  <a:lnTo>
                    <a:pt x="1675236" y="300058"/>
                  </a:lnTo>
                  <a:lnTo>
                    <a:pt x="0" y="300058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75236" cy="338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189405" y="3952105"/>
            <a:ext cx="1162072" cy="1567695"/>
          </a:xfrm>
          <a:custGeom>
            <a:avLst/>
            <a:gdLst/>
            <a:ahLst/>
            <a:cxnLst/>
            <a:rect l="l" t="t" r="r" b="b"/>
            <a:pathLst>
              <a:path w="1162072" h="1567695">
                <a:moveTo>
                  <a:pt x="0" y="0"/>
                </a:moveTo>
                <a:lnTo>
                  <a:pt x="1162072" y="0"/>
                </a:lnTo>
                <a:lnTo>
                  <a:pt x="1162072" y="1567694"/>
                </a:lnTo>
                <a:lnTo>
                  <a:pt x="0" y="1567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6134" b="-1524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77829" y="5754288"/>
            <a:ext cx="1073648" cy="1361510"/>
          </a:xfrm>
          <a:custGeom>
            <a:avLst/>
            <a:gdLst/>
            <a:ahLst/>
            <a:cxnLst/>
            <a:rect l="l" t="t" r="r" b="b"/>
            <a:pathLst>
              <a:path w="1073648" h="1361510">
                <a:moveTo>
                  <a:pt x="0" y="0"/>
                </a:moveTo>
                <a:lnTo>
                  <a:pt x="1073648" y="0"/>
                </a:lnTo>
                <a:lnTo>
                  <a:pt x="1073648" y="1361510"/>
                </a:lnTo>
                <a:lnTo>
                  <a:pt x="0" y="1361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3638" t="-17409" r="-110010" b="-1658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89405" y="7578967"/>
            <a:ext cx="1162072" cy="1414773"/>
          </a:xfrm>
          <a:custGeom>
            <a:avLst/>
            <a:gdLst/>
            <a:ahLst/>
            <a:cxnLst/>
            <a:rect l="l" t="t" r="r" b="b"/>
            <a:pathLst>
              <a:path w="1162072" h="1414773">
                <a:moveTo>
                  <a:pt x="0" y="0"/>
                </a:moveTo>
                <a:lnTo>
                  <a:pt x="1162072" y="0"/>
                </a:lnTo>
                <a:lnTo>
                  <a:pt x="1162072" y="1414773"/>
                </a:lnTo>
                <a:lnTo>
                  <a:pt x="0" y="141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751" t="-17435" b="-2131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73464" y="4574272"/>
            <a:ext cx="1705669" cy="922127"/>
          </a:xfrm>
          <a:custGeom>
            <a:avLst/>
            <a:gdLst/>
            <a:ahLst/>
            <a:cxnLst/>
            <a:rect l="l" t="t" r="r" b="b"/>
            <a:pathLst>
              <a:path w="1705669" h="922127">
                <a:moveTo>
                  <a:pt x="0" y="0"/>
                </a:moveTo>
                <a:lnTo>
                  <a:pt x="1705669" y="0"/>
                </a:lnTo>
                <a:lnTo>
                  <a:pt x="1705669" y="922127"/>
                </a:lnTo>
                <a:lnTo>
                  <a:pt x="0" y="92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237962" y="6087180"/>
            <a:ext cx="1641172" cy="1005218"/>
          </a:xfrm>
          <a:custGeom>
            <a:avLst/>
            <a:gdLst/>
            <a:ahLst/>
            <a:cxnLst/>
            <a:rect l="l" t="t" r="r" b="b"/>
            <a:pathLst>
              <a:path w="1641172" h="1005218">
                <a:moveTo>
                  <a:pt x="0" y="0"/>
                </a:moveTo>
                <a:lnTo>
                  <a:pt x="1641171" y="0"/>
                </a:lnTo>
                <a:lnTo>
                  <a:pt x="1641171" y="1005218"/>
                </a:lnTo>
                <a:lnTo>
                  <a:pt x="0" y="1005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29034" y="3446679"/>
            <a:ext cx="199453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40632" y="3356159"/>
            <a:ext cx="2892507" cy="4506865"/>
            <a:chOff x="0" y="0"/>
            <a:chExt cx="761813" cy="11869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1813" cy="1186993"/>
            </a:xfrm>
            <a:custGeom>
              <a:avLst/>
              <a:gdLst/>
              <a:ahLst/>
              <a:cxnLst/>
              <a:rect l="l" t="t" r="r" b="b"/>
              <a:pathLst>
                <a:path w="761813" h="1186993">
                  <a:moveTo>
                    <a:pt x="0" y="0"/>
                  </a:moveTo>
                  <a:lnTo>
                    <a:pt x="761813" y="0"/>
                  </a:lnTo>
                  <a:lnTo>
                    <a:pt x="761813" y="1186993"/>
                  </a:lnTo>
                  <a:lnTo>
                    <a:pt x="0" y="1186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1813" cy="1225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3639" y="3356159"/>
            <a:ext cx="3038240" cy="4244975"/>
            <a:chOff x="0" y="0"/>
            <a:chExt cx="800195" cy="11180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0195" cy="1118018"/>
            </a:xfrm>
            <a:custGeom>
              <a:avLst/>
              <a:gdLst/>
              <a:ahLst/>
              <a:cxnLst/>
              <a:rect l="l" t="t" r="r" b="b"/>
              <a:pathLst>
                <a:path w="800195" h="1118018">
                  <a:moveTo>
                    <a:pt x="0" y="0"/>
                  </a:moveTo>
                  <a:lnTo>
                    <a:pt x="800195" y="0"/>
                  </a:lnTo>
                  <a:lnTo>
                    <a:pt x="800195" y="1118018"/>
                  </a:lnTo>
                  <a:lnTo>
                    <a:pt x="0" y="11180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00195" cy="11561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7894517" y="4426786"/>
            <a:ext cx="2350750" cy="1007884"/>
          </a:xfrm>
          <a:custGeom>
            <a:avLst/>
            <a:gdLst/>
            <a:ahLst/>
            <a:cxnLst/>
            <a:rect l="l" t="t" r="r" b="b"/>
            <a:pathLst>
              <a:path w="2350750" h="1007884">
                <a:moveTo>
                  <a:pt x="0" y="0"/>
                </a:moveTo>
                <a:lnTo>
                  <a:pt x="2350750" y="0"/>
                </a:lnTo>
                <a:lnTo>
                  <a:pt x="2350750" y="1007884"/>
                </a:lnTo>
                <a:lnTo>
                  <a:pt x="0" y="1007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965089" y="5648750"/>
            <a:ext cx="2209608" cy="1231856"/>
          </a:xfrm>
          <a:custGeom>
            <a:avLst/>
            <a:gdLst/>
            <a:ahLst/>
            <a:cxnLst/>
            <a:rect l="l" t="t" r="r" b="b"/>
            <a:pathLst>
              <a:path w="2209608" h="1231856">
                <a:moveTo>
                  <a:pt x="0" y="0"/>
                </a:moveTo>
                <a:lnTo>
                  <a:pt x="2209607" y="0"/>
                </a:lnTo>
                <a:lnTo>
                  <a:pt x="2209607" y="1231856"/>
                </a:lnTo>
                <a:lnTo>
                  <a:pt x="0" y="1231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300054" y="3528429"/>
            <a:ext cx="199453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SERVIDOR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852379" y="3391320"/>
            <a:ext cx="2892507" cy="5746716"/>
            <a:chOff x="0" y="0"/>
            <a:chExt cx="761813" cy="15135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1813" cy="1513538"/>
            </a:xfrm>
            <a:custGeom>
              <a:avLst/>
              <a:gdLst/>
              <a:ahLst/>
              <a:cxnLst/>
              <a:rect l="l" t="t" r="r" b="b"/>
              <a:pathLst>
                <a:path w="761813" h="1513538">
                  <a:moveTo>
                    <a:pt x="0" y="0"/>
                  </a:moveTo>
                  <a:lnTo>
                    <a:pt x="761813" y="0"/>
                  </a:lnTo>
                  <a:lnTo>
                    <a:pt x="761813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61813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1547704" y="4256215"/>
            <a:ext cx="1261590" cy="1495217"/>
          </a:xfrm>
          <a:custGeom>
            <a:avLst/>
            <a:gdLst/>
            <a:ahLst/>
            <a:cxnLst/>
            <a:rect l="l" t="t" r="r" b="b"/>
            <a:pathLst>
              <a:path w="1261590" h="1495217">
                <a:moveTo>
                  <a:pt x="0" y="0"/>
                </a:moveTo>
                <a:lnTo>
                  <a:pt x="1261590" y="0"/>
                </a:lnTo>
                <a:lnTo>
                  <a:pt x="1261590" y="1495218"/>
                </a:lnTo>
                <a:lnTo>
                  <a:pt x="0" y="1495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088114" y="5858832"/>
            <a:ext cx="2421037" cy="922075"/>
          </a:xfrm>
          <a:custGeom>
            <a:avLst/>
            <a:gdLst/>
            <a:ahLst/>
            <a:cxnLst/>
            <a:rect l="l" t="t" r="r" b="b"/>
            <a:pathLst>
              <a:path w="2421037" h="922075">
                <a:moveTo>
                  <a:pt x="0" y="0"/>
                </a:moveTo>
                <a:lnTo>
                  <a:pt x="2421037" y="0"/>
                </a:lnTo>
                <a:lnTo>
                  <a:pt x="2421037" y="922075"/>
                </a:lnTo>
                <a:lnTo>
                  <a:pt x="0" y="922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621258" y="6832585"/>
            <a:ext cx="1352122" cy="730991"/>
          </a:xfrm>
          <a:custGeom>
            <a:avLst/>
            <a:gdLst/>
            <a:ahLst/>
            <a:cxnLst/>
            <a:rect l="l" t="t" r="r" b="b"/>
            <a:pathLst>
              <a:path w="1352122" h="730991">
                <a:moveTo>
                  <a:pt x="0" y="0"/>
                </a:moveTo>
                <a:lnTo>
                  <a:pt x="1352122" y="0"/>
                </a:lnTo>
                <a:lnTo>
                  <a:pt x="1352122" y="730991"/>
                </a:lnTo>
                <a:lnTo>
                  <a:pt x="0" y="730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088114" y="7768830"/>
            <a:ext cx="2350750" cy="1007884"/>
          </a:xfrm>
          <a:custGeom>
            <a:avLst/>
            <a:gdLst/>
            <a:ahLst/>
            <a:cxnLst/>
            <a:rect l="l" t="t" r="r" b="b"/>
            <a:pathLst>
              <a:path w="2350750" h="1007884">
                <a:moveTo>
                  <a:pt x="0" y="0"/>
                </a:moveTo>
                <a:lnTo>
                  <a:pt x="2350750" y="0"/>
                </a:lnTo>
                <a:lnTo>
                  <a:pt x="2350750" y="1007884"/>
                </a:lnTo>
                <a:lnTo>
                  <a:pt x="0" y="1007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3935386" y="3391320"/>
            <a:ext cx="2892507" cy="5746716"/>
            <a:chOff x="0" y="0"/>
            <a:chExt cx="761813" cy="15135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61813" cy="1513538"/>
            </a:xfrm>
            <a:custGeom>
              <a:avLst/>
              <a:gdLst/>
              <a:ahLst/>
              <a:cxnLst/>
              <a:rect l="l" t="t" r="r" b="b"/>
              <a:pathLst>
                <a:path w="761813" h="1513538">
                  <a:moveTo>
                    <a:pt x="0" y="0"/>
                  </a:moveTo>
                  <a:lnTo>
                    <a:pt x="761813" y="0"/>
                  </a:lnTo>
                  <a:lnTo>
                    <a:pt x="761813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761813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4881037" y="4372601"/>
            <a:ext cx="998579" cy="998579"/>
          </a:xfrm>
          <a:custGeom>
            <a:avLst/>
            <a:gdLst/>
            <a:ahLst/>
            <a:cxnLst/>
            <a:rect l="l" t="t" r="r" b="b"/>
            <a:pathLst>
              <a:path w="998579" h="998579">
                <a:moveTo>
                  <a:pt x="0" y="0"/>
                </a:moveTo>
                <a:lnTo>
                  <a:pt x="998579" y="0"/>
                </a:lnTo>
                <a:lnTo>
                  <a:pt x="998579" y="998578"/>
                </a:lnTo>
                <a:lnTo>
                  <a:pt x="0" y="9985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517115" y="5641811"/>
            <a:ext cx="1729050" cy="678059"/>
          </a:xfrm>
          <a:custGeom>
            <a:avLst/>
            <a:gdLst/>
            <a:ahLst/>
            <a:cxnLst/>
            <a:rect l="l" t="t" r="r" b="b"/>
            <a:pathLst>
              <a:path w="1729050" h="678059">
                <a:moveTo>
                  <a:pt x="0" y="0"/>
                </a:moveTo>
                <a:lnTo>
                  <a:pt x="1729050" y="0"/>
                </a:lnTo>
                <a:lnTo>
                  <a:pt x="1729050" y="678059"/>
                </a:lnTo>
                <a:lnTo>
                  <a:pt x="0" y="6780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881037" y="6501926"/>
            <a:ext cx="879593" cy="879593"/>
          </a:xfrm>
          <a:custGeom>
            <a:avLst/>
            <a:gdLst/>
            <a:ahLst/>
            <a:cxnLst/>
            <a:rect l="l" t="t" r="r" b="b"/>
            <a:pathLst>
              <a:path w="879593" h="879593">
                <a:moveTo>
                  <a:pt x="0" y="0"/>
                </a:moveTo>
                <a:lnTo>
                  <a:pt x="879593" y="0"/>
                </a:lnTo>
                <a:lnTo>
                  <a:pt x="879593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813953" y="7563576"/>
            <a:ext cx="1132746" cy="1345703"/>
          </a:xfrm>
          <a:custGeom>
            <a:avLst/>
            <a:gdLst/>
            <a:ahLst/>
            <a:cxnLst/>
            <a:rect l="l" t="t" r="r" b="b"/>
            <a:pathLst>
              <a:path w="1132746" h="1345703">
                <a:moveTo>
                  <a:pt x="0" y="0"/>
                </a:moveTo>
                <a:lnTo>
                  <a:pt x="1132746" y="0"/>
                </a:lnTo>
                <a:lnTo>
                  <a:pt x="1132746" y="1345703"/>
                </a:lnTo>
                <a:lnTo>
                  <a:pt x="0" y="1345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367253" y="421528"/>
            <a:ext cx="6148954" cy="2448857"/>
          </a:xfrm>
          <a:custGeom>
            <a:avLst/>
            <a:gdLst/>
            <a:ahLst/>
            <a:cxnLst/>
            <a:rect l="l" t="t" r="r" b="b"/>
            <a:pathLst>
              <a:path w="6148954" h="2448857">
                <a:moveTo>
                  <a:pt x="0" y="0"/>
                </a:moveTo>
                <a:lnTo>
                  <a:pt x="6148954" y="0"/>
                </a:lnTo>
                <a:lnTo>
                  <a:pt x="6148954" y="2448856"/>
                </a:lnTo>
                <a:lnTo>
                  <a:pt x="0" y="24488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29120" y="1995335"/>
            <a:ext cx="5431541" cy="83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  <a:spcBef>
                <a:spcPct val="0"/>
              </a:spcBef>
            </a:pPr>
            <a:r>
              <a:rPr lang="en-US" sz="2899" spc="858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TECNOLOGIAS UTILIZADAS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09095" y="3372759"/>
            <a:ext cx="1994530" cy="52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2499" b="1" spc="22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072627" y="3562821"/>
            <a:ext cx="2589252" cy="363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1800" b="1" spc="16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383061" y="3621814"/>
            <a:ext cx="1994530" cy="35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1700" b="1" spc="15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4871" y="0"/>
            <a:ext cx="8569362" cy="10287000"/>
            <a:chOff x="0" y="0"/>
            <a:chExt cx="225695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6951" cy="2709333"/>
            </a:xfrm>
            <a:custGeom>
              <a:avLst/>
              <a:gdLst/>
              <a:ahLst/>
              <a:cxnLst/>
              <a:rect l="l" t="t" r="r" b="b"/>
              <a:pathLst>
                <a:path w="2256951" h="2709333">
                  <a:moveTo>
                    <a:pt x="0" y="0"/>
                  </a:moveTo>
                  <a:lnTo>
                    <a:pt x="2256951" y="0"/>
                  </a:lnTo>
                  <a:lnTo>
                    <a:pt x="22569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6D0CE">
                <a:alpha val="2078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5695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6722" y="1028700"/>
            <a:ext cx="17454202" cy="8229600"/>
            <a:chOff x="0" y="0"/>
            <a:chExt cx="4596992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96991" cy="2167467"/>
            </a:xfrm>
            <a:custGeom>
              <a:avLst/>
              <a:gdLst/>
              <a:ahLst/>
              <a:cxnLst/>
              <a:rect l="l" t="t" r="r" b="b"/>
              <a:pathLst>
                <a:path w="4596991" h="2167467">
                  <a:moveTo>
                    <a:pt x="0" y="0"/>
                  </a:moveTo>
                  <a:lnTo>
                    <a:pt x="4596991" y="0"/>
                  </a:lnTo>
                  <a:lnTo>
                    <a:pt x="459699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96992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93781" y="1394543"/>
            <a:ext cx="5431541" cy="108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899" spc="858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ORGANIZACIÓN DEL DESARROLLO</a:t>
            </a:r>
          </a:p>
          <a:p>
            <a:pPr algn="ctr">
              <a:lnSpc>
                <a:spcPts val="2016"/>
              </a:lnSpc>
              <a:spcBef>
                <a:spcPct val="0"/>
              </a:spcBef>
            </a:pPr>
            <a:r>
              <a:rPr lang="en-US" sz="1800" b="1" spc="532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ESTRUCTURA DEL PROYECTO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378133"/>
            <a:ext cx="7200628" cy="4287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Separación de lógica, presentación y logica:​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/src: clases PHP para lógica y acceso a BD​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/public: páginas HTML/PHP visibles para el usuario​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/js: scripts de validación y reconocimiento facial​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/css: diseño visual unificado​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74981" lvl="1" indent="-237491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/logica: peticiones AJAX al servidor</a:t>
            </a:r>
          </a:p>
        </p:txBody>
      </p:sp>
      <p:sp>
        <p:nvSpPr>
          <p:cNvPr id="10" name="Freeform 10"/>
          <p:cNvSpPr/>
          <p:nvPr/>
        </p:nvSpPr>
        <p:spPr>
          <a:xfrm>
            <a:off x="8456270" y="1930356"/>
            <a:ext cx="9170359" cy="6637047"/>
          </a:xfrm>
          <a:custGeom>
            <a:avLst/>
            <a:gdLst/>
            <a:ahLst/>
            <a:cxnLst/>
            <a:rect l="l" t="t" r="r" b="b"/>
            <a:pathLst>
              <a:path w="9170359" h="6637047">
                <a:moveTo>
                  <a:pt x="0" y="0"/>
                </a:moveTo>
                <a:lnTo>
                  <a:pt x="9170359" y="0"/>
                </a:lnTo>
                <a:lnTo>
                  <a:pt x="9170359" y="6637047"/>
                </a:lnTo>
                <a:lnTo>
                  <a:pt x="0" y="6637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0098" y="3426363"/>
            <a:ext cx="7457100" cy="64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Privacidad: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Garantizando seguridad, transparencia y minimización de datos.​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Exclusividad: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Sin emplear los datos como vigilancia o productividad.​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Jurídico: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Empleo de consentimiento explícito por las partes como medio del cumplimiento legal.​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​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Alternativo: 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Posibilidad de implementación de otros medios como RFID.​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937989" y="547387"/>
            <a:ext cx="6360661" cy="1420350"/>
            <a:chOff x="0" y="0"/>
            <a:chExt cx="1675236" cy="3740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75236" cy="374084"/>
            </a:xfrm>
            <a:custGeom>
              <a:avLst/>
              <a:gdLst/>
              <a:ahLst/>
              <a:cxnLst/>
              <a:rect l="l" t="t" r="r" b="b"/>
              <a:pathLst>
                <a:path w="1675236" h="374084">
                  <a:moveTo>
                    <a:pt x="0" y="0"/>
                  </a:moveTo>
                  <a:lnTo>
                    <a:pt x="1675236" y="0"/>
                  </a:lnTo>
                  <a:lnTo>
                    <a:pt x="1675236" y="374084"/>
                  </a:lnTo>
                  <a:lnTo>
                    <a:pt x="0" y="374084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75236" cy="412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22986" y="2466221"/>
            <a:ext cx="7590667" cy="7129398"/>
            <a:chOff x="0" y="0"/>
            <a:chExt cx="1999188" cy="18777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99188" cy="1877702"/>
            </a:xfrm>
            <a:custGeom>
              <a:avLst/>
              <a:gdLst/>
              <a:ahLst/>
              <a:cxnLst/>
              <a:rect l="l" t="t" r="r" b="b"/>
              <a:pathLst>
                <a:path w="1999188" h="1877702">
                  <a:moveTo>
                    <a:pt x="0" y="0"/>
                  </a:moveTo>
                  <a:lnTo>
                    <a:pt x="1999188" y="0"/>
                  </a:lnTo>
                  <a:lnTo>
                    <a:pt x="1999188" y="1877702"/>
                  </a:lnTo>
                  <a:lnTo>
                    <a:pt x="0" y="1877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99188" cy="1915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481313" y="-180492"/>
            <a:ext cx="10341573" cy="10287000"/>
          </a:xfrm>
          <a:custGeom>
            <a:avLst/>
            <a:gdLst/>
            <a:ahLst/>
            <a:cxnLst/>
            <a:rect l="l" t="t" r="r" b="b"/>
            <a:pathLst>
              <a:path w="10341573" h="10287000">
                <a:moveTo>
                  <a:pt x="0" y="0"/>
                </a:moveTo>
                <a:lnTo>
                  <a:pt x="10341573" y="0"/>
                </a:lnTo>
                <a:lnTo>
                  <a:pt x="1034157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02549" y="702247"/>
            <a:ext cx="5431541" cy="108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899" spc="858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ORGANIZACIÓN DEL DESARROLLO</a:t>
            </a:r>
          </a:p>
          <a:p>
            <a:pPr algn="ctr">
              <a:lnSpc>
                <a:spcPts val="2016"/>
              </a:lnSpc>
              <a:spcBef>
                <a:spcPct val="0"/>
              </a:spcBef>
            </a:pPr>
            <a:r>
              <a:rPr lang="en-US" sz="1800" spc="532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PROTECCION DE DATOS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0098" y="2767844"/>
            <a:ext cx="216857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RGPD Y LOPDGDD​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28173"/>
            <a:ext cx="16891754" cy="9284163"/>
            <a:chOff x="0" y="0"/>
            <a:chExt cx="4448857" cy="24452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48857" cy="2445212"/>
            </a:xfrm>
            <a:custGeom>
              <a:avLst/>
              <a:gdLst/>
              <a:ahLst/>
              <a:cxnLst/>
              <a:rect l="l" t="t" r="r" b="b"/>
              <a:pathLst>
                <a:path w="4448857" h="2445212">
                  <a:moveTo>
                    <a:pt x="0" y="0"/>
                  </a:moveTo>
                  <a:lnTo>
                    <a:pt x="4448857" y="0"/>
                  </a:lnTo>
                  <a:lnTo>
                    <a:pt x="4448857" y="2445212"/>
                  </a:lnTo>
                  <a:lnTo>
                    <a:pt x="0" y="24452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48857" cy="2483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71239" y="0"/>
            <a:ext cx="8544090" cy="1843389"/>
            <a:chOff x="0" y="0"/>
            <a:chExt cx="2250295" cy="4855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0295" cy="485502"/>
            </a:xfrm>
            <a:custGeom>
              <a:avLst/>
              <a:gdLst/>
              <a:ahLst/>
              <a:cxnLst/>
              <a:rect l="l" t="t" r="r" b="b"/>
              <a:pathLst>
                <a:path w="2250295" h="485502">
                  <a:moveTo>
                    <a:pt x="0" y="0"/>
                  </a:moveTo>
                  <a:lnTo>
                    <a:pt x="2250295" y="0"/>
                  </a:lnTo>
                  <a:lnTo>
                    <a:pt x="2250295" y="485502"/>
                  </a:lnTo>
                  <a:lnTo>
                    <a:pt x="0" y="485502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50295" cy="523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311993" y="1028700"/>
            <a:ext cx="8947307" cy="4031018"/>
          </a:xfrm>
          <a:custGeom>
            <a:avLst/>
            <a:gdLst/>
            <a:ahLst/>
            <a:cxnLst/>
            <a:rect l="l" t="t" r="r" b="b"/>
            <a:pathLst>
              <a:path w="8947307" h="4031018">
                <a:moveTo>
                  <a:pt x="0" y="0"/>
                </a:moveTo>
                <a:lnTo>
                  <a:pt x="8947307" y="0"/>
                </a:lnTo>
                <a:lnTo>
                  <a:pt x="8947307" y="4031018"/>
                </a:lnTo>
                <a:lnTo>
                  <a:pt x="0" y="403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11993" y="5892149"/>
            <a:ext cx="8947307" cy="3187478"/>
          </a:xfrm>
          <a:custGeom>
            <a:avLst/>
            <a:gdLst/>
            <a:ahLst/>
            <a:cxnLst/>
            <a:rect l="l" t="t" r="r" b="b"/>
            <a:pathLst>
              <a:path w="8947307" h="3187478">
                <a:moveTo>
                  <a:pt x="0" y="0"/>
                </a:moveTo>
                <a:lnTo>
                  <a:pt x="8947307" y="0"/>
                </a:lnTo>
                <a:lnTo>
                  <a:pt x="8947307" y="3187478"/>
                </a:lnTo>
                <a:lnTo>
                  <a:pt x="0" y="3187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6415" y="437698"/>
            <a:ext cx="7656436" cy="97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7"/>
              </a:lnSpc>
              <a:spcBef>
                <a:spcPct val="0"/>
              </a:spcBef>
            </a:pPr>
            <a:r>
              <a:rPr lang="en-US" sz="3399" spc="1006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CONTROL DE VERSIONES</a:t>
            </a:r>
          </a:p>
          <a:p>
            <a:pPr algn="l">
              <a:lnSpc>
                <a:spcPts val="3807"/>
              </a:lnSpc>
              <a:spcBef>
                <a:spcPct val="0"/>
              </a:spcBef>
            </a:pPr>
            <a:r>
              <a:rPr lang="en-US" sz="3399" spc="1006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GITHUB​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3557" y="2284730"/>
            <a:ext cx="6301463" cy="56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endParaRPr/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Actualización del código Fuente.​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Compartir documentos y diagramas.​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Uso de ramas y merges.​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Más de 137 Commits.​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2640" y="372446"/>
            <a:ext cx="16426660" cy="9542109"/>
            <a:chOff x="0" y="0"/>
            <a:chExt cx="4326363" cy="2513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6363" cy="2513148"/>
            </a:xfrm>
            <a:custGeom>
              <a:avLst/>
              <a:gdLst/>
              <a:ahLst/>
              <a:cxnLst/>
              <a:rect l="l" t="t" r="r" b="b"/>
              <a:pathLst>
                <a:path w="4326363" h="2513148">
                  <a:moveTo>
                    <a:pt x="0" y="0"/>
                  </a:moveTo>
                  <a:lnTo>
                    <a:pt x="4326363" y="0"/>
                  </a:lnTo>
                  <a:lnTo>
                    <a:pt x="4326363" y="2513148"/>
                  </a:lnTo>
                  <a:lnTo>
                    <a:pt x="0" y="25131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6363" cy="2551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42726" y="0"/>
            <a:ext cx="8025963" cy="1489555"/>
            <a:chOff x="0" y="0"/>
            <a:chExt cx="2113834" cy="3923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3834" cy="392311"/>
            </a:xfrm>
            <a:custGeom>
              <a:avLst/>
              <a:gdLst/>
              <a:ahLst/>
              <a:cxnLst/>
              <a:rect l="l" t="t" r="r" b="b"/>
              <a:pathLst>
                <a:path w="2113834" h="392311">
                  <a:moveTo>
                    <a:pt x="0" y="0"/>
                  </a:moveTo>
                  <a:lnTo>
                    <a:pt x="2113834" y="0"/>
                  </a:lnTo>
                  <a:lnTo>
                    <a:pt x="2113834" y="392311"/>
                  </a:lnTo>
                  <a:lnTo>
                    <a:pt x="0" y="392311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13834" cy="430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273276" y="511661"/>
            <a:ext cx="5986024" cy="65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INSTALACIÓN</a:t>
            </a:r>
          </a:p>
        </p:txBody>
      </p:sp>
      <p:sp>
        <p:nvSpPr>
          <p:cNvPr id="9" name="Freeform 9"/>
          <p:cNvSpPr/>
          <p:nvPr/>
        </p:nvSpPr>
        <p:spPr>
          <a:xfrm>
            <a:off x="417329" y="825033"/>
            <a:ext cx="9443863" cy="5713537"/>
          </a:xfrm>
          <a:custGeom>
            <a:avLst/>
            <a:gdLst/>
            <a:ahLst/>
            <a:cxnLst/>
            <a:rect l="l" t="t" r="r" b="b"/>
            <a:pathLst>
              <a:path w="9443863" h="5713537">
                <a:moveTo>
                  <a:pt x="0" y="0"/>
                </a:moveTo>
                <a:lnTo>
                  <a:pt x="9443863" y="0"/>
                </a:lnTo>
                <a:lnTo>
                  <a:pt x="9443863" y="5713538"/>
                </a:lnTo>
                <a:lnTo>
                  <a:pt x="0" y="57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7329" y="6538571"/>
            <a:ext cx="9443863" cy="2868573"/>
          </a:xfrm>
          <a:custGeom>
            <a:avLst/>
            <a:gdLst/>
            <a:ahLst/>
            <a:cxnLst/>
            <a:rect l="l" t="t" r="r" b="b"/>
            <a:pathLst>
              <a:path w="9443863" h="2868573">
                <a:moveTo>
                  <a:pt x="0" y="0"/>
                </a:moveTo>
                <a:lnTo>
                  <a:pt x="9443863" y="0"/>
                </a:lnTo>
                <a:lnTo>
                  <a:pt x="9443863" y="2868573"/>
                </a:lnTo>
                <a:lnTo>
                  <a:pt x="0" y="2868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113566" y="1728470"/>
            <a:ext cx="6922447" cy="803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SERVIDOR DEFINITIVO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Instalación de estructura LAMPP en servidor con PHP 8.3, Node.JS, Git y Composer.​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Configuración de Apache para SSL y proxy inverso.​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Arranque de Apache.​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Creación de carpetas necesarias.​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Pull desde GitHub de la aplicación.​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Actualización de composer con​ composer update.​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Importación de datos básicos SQL desde PHPmyadmin.​</a:t>
            </a:r>
          </a:p>
          <a:p>
            <a:pPr marL="539749" lvl="1" indent="-269875" algn="l">
              <a:lnSpc>
                <a:spcPts val="4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Ejecución de​ node.js ./js/server.js​</a:t>
            </a:r>
          </a:p>
          <a:p>
            <a:pPr algn="l">
              <a:lnSpc>
                <a:spcPts val="3919"/>
              </a:lnSpc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670" y="372446"/>
            <a:ext cx="16426660" cy="9542109"/>
            <a:chOff x="0" y="0"/>
            <a:chExt cx="4326363" cy="25131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6363" cy="2513148"/>
            </a:xfrm>
            <a:custGeom>
              <a:avLst/>
              <a:gdLst/>
              <a:ahLst/>
              <a:cxnLst/>
              <a:rect l="l" t="t" r="r" b="b"/>
              <a:pathLst>
                <a:path w="4326363" h="2513148">
                  <a:moveTo>
                    <a:pt x="0" y="0"/>
                  </a:moveTo>
                  <a:lnTo>
                    <a:pt x="4326363" y="0"/>
                  </a:lnTo>
                  <a:lnTo>
                    <a:pt x="4326363" y="2513148"/>
                  </a:lnTo>
                  <a:lnTo>
                    <a:pt x="0" y="25131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6363" cy="2551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68861" y="0"/>
            <a:ext cx="6099828" cy="1489555"/>
            <a:chOff x="0" y="0"/>
            <a:chExt cx="1606539" cy="3923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6539" cy="392311"/>
            </a:xfrm>
            <a:custGeom>
              <a:avLst/>
              <a:gdLst/>
              <a:ahLst/>
              <a:cxnLst/>
              <a:rect l="l" t="t" r="r" b="b"/>
              <a:pathLst>
                <a:path w="1606539" h="392311">
                  <a:moveTo>
                    <a:pt x="0" y="0"/>
                  </a:moveTo>
                  <a:lnTo>
                    <a:pt x="1606539" y="0"/>
                  </a:lnTo>
                  <a:lnTo>
                    <a:pt x="1606539" y="392311"/>
                  </a:lnTo>
                  <a:lnTo>
                    <a:pt x="0" y="392311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06539" cy="430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44913" y="733212"/>
            <a:ext cx="9983417" cy="4392703"/>
          </a:xfrm>
          <a:custGeom>
            <a:avLst/>
            <a:gdLst/>
            <a:ahLst/>
            <a:cxnLst/>
            <a:rect l="l" t="t" r="r" b="b"/>
            <a:pathLst>
              <a:path w="9983417" h="4392703">
                <a:moveTo>
                  <a:pt x="0" y="0"/>
                </a:moveTo>
                <a:lnTo>
                  <a:pt x="9983417" y="0"/>
                </a:lnTo>
                <a:lnTo>
                  <a:pt x="9983417" y="4392704"/>
                </a:lnTo>
                <a:lnTo>
                  <a:pt x="0" y="439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387140" y="5125916"/>
            <a:ext cx="8098963" cy="4646780"/>
          </a:xfrm>
          <a:custGeom>
            <a:avLst/>
            <a:gdLst/>
            <a:ahLst/>
            <a:cxnLst/>
            <a:rect l="l" t="t" r="r" b="b"/>
            <a:pathLst>
              <a:path w="8098963" h="4646780">
                <a:moveTo>
                  <a:pt x="0" y="0"/>
                </a:moveTo>
                <a:lnTo>
                  <a:pt x="8098963" y="0"/>
                </a:lnTo>
                <a:lnTo>
                  <a:pt x="8098963" y="4646780"/>
                </a:lnTo>
                <a:lnTo>
                  <a:pt x="0" y="464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82665" y="502136"/>
            <a:ext cx="5986024" cy="48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5"/>
              </a:lnSpc>
              <a:spcBef>
                <a:spcPct val="0"/>
              </a:spcBef>
            </a:pPr>
            <a:r>
              <a:rPr lang="en-US" sz="3299" spc="976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PRUEBAS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0608" y="2452194"/>
            <a:ext cx="5164444" cy="241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UNITARIAS Y DE INTEGRACIÓN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Se ha empleado PHPUnit sobre cada clase.​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Se ha probado la integración de todas las clases nuevamente con PHPUnit.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44082" y="5813228"/>
            <a:ext cx="5830970" cy="319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PRUEBAS DE CASOS DE USO​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​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Se han realizado pruebas por cada caso de uso definiendo requisitos, pasos y resultados esperados.​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Se han documentado las pruebas realizadas.</a:t>
            </a:r>
          </a:p>
          <a:p>
            <a:pPr algn="l">
              <a:lnSpc>
                <a:spcPts val="3919"/>
              </a:lnSpc>
            </a:pPr>
            <a:endParaRPr lang="en-US" sz="1800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670" y="528447"/>
            <a:ext cx="16426660" cy="9151042"/>
            <a:chOff x="0" y="0"/>
            <a:chExt cx="4326363" cy="2410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6363" cy="2410151"/>
            </a:xfrm>
            <a:custGeom>
              <a:avLst/>
              <a:gdLst/>
              <a:ahLst/>
              <a:cxnLst/>
              <a:rect l="l" t="t" r="r" b="b"/>
              <a:pathLst>
                <a:path w="4326363" h="2410151">
                  <a:moveTo>
                    <a:pt x="0" y="0"/>
                  </a:moveTo>
                  <a:lnTo>
                    <a:pt x="4326363" y="0"/>
                  </a:lnTo>
                  <a:lnTo>
                    <a:pt x="4326363" y="2410151"/>
                  </a:lnTo>
                  <a:lnTo>
                    <a:pt x="0" y="2410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26D0C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26363" cy="2448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397835" y="0"/>
            <a:ext cx="9890165" cy="3257128"/>
            <a:chOff x="0" y="0"/>
            <a:chExt cx="2604817" cy="857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04817" cy="857844"/>
            </a:xfrm>
            <a:custGeom>
              <a:avLst/>
              <a:gdLst/>
              <a:ahLst/>
              <a:cxnLst/>
              <a:rect l="l" t="t" r="r" b="b"/>
              <a:pathLst>
                <a:path w="2604817" h="857844">
                  <a:moveTo>
                    <a:pt x="0" y="0"/>
                  </a:moveTo>
                  <a:lnTo>
                    <a:pt x="2604817" y="0"/>
                  </a:lnTo>
                  <a:lnTo>
                    <a:pt x="2604817" y="857844"/>
                  </a:lnTo>
                  <a:lnTo>
                    <a:pt x="0" y="857844"/>
                  </a:lnTo>
                  <a:close/>
                </a:path>
              </a:pathLst>
            </a:custGeom>
            <a:solidFill>
              <a:srgbClr val="26D0C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04817" cy="895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397835" y="3247720"/>
            <a:ext cx="8920010" cy="5262219"/>
          </a:xfrm>
          <a:custGeom>
            <a:avLst/>
            <a:gdLst/>
            <a:ahLst/>
            <a:cxnLst/>
            <a:rect l="l" t="t" r="r" b="b"/>
            <a:pathLst>
              <a:path w="11301259" h="5325718">
                <a:moveTo>
                  <a:pt x="0" y="0"/>
                </a:moveTo>
                <a:lnTo>
                  <a:pt x="11301259" y="0"/>
                </a:lnTo>
                <a:lnTo>
                  <a:pt x="11301259" y="5325718"/>
                </a:lnTo>
                <a:lnTo>
                  <a:pt x="0" y="5325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79937" y="1382184"/>
            <a:ext cx="5986024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3499" spc="1035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CONCLUSIÓN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17818" y="470195"/>
            <a:ext cx="3850199" cy="501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7"/>
              </a:lnSpc>
              <a:spcBef>
                <a:spcPct val="0"/>
              </a:spcBef>
            </a:pPr>
            <a:r>
              <a:rPr lang="en-US" sz="3399" spc="1006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FUTURO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03764" y="1163424"/>
            <a:ext cx="7053566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Implementación de Huella digital u otros métodos de reconocimiento.​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Uso para teletrabajadores con geolocalización.​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2572" y="2871261"/>
            <a:ext cx="5560755" cy="479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Proyecto de gran envergadura.​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Importancia de la fase de análisis y diseño.​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Trabajo dividido en 3 partes claras (BBDD y documentación, Estilo, Implementación y configuración).​</a:t>
            </a:r>
          </a:p>
          <a:p>
            <a:pPr algn="l">
              <a:lnSpc>
                <a:spcPts val="3219"/>
              </a:lnSpc>
            </a:pPr>
            <a:endParaRPr lang="en-US" sz="2299">
              <a:solidFill>
                <a:srgbClr val="000000"/>
              </a:solidFill>
              <a:latin typeface="Lovelo"/>
              <a:ea typeface="Lovelo"/>
              <a:cs typeface="Lovelo"/>
              <a:sym typeface="Lovelo"/>
            </a:endParaRPr>
          </a:p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ovelo"/>
                <a:ea typeface="Lovelo"/>
                <a:cs typeface="Lovelo"/>
                <a:sym typeface="Lovelo"/>
              </a:rPr>
              <a:t>Creación de un software conveniente, adecuado y eficaz.​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9316" y="4488181"/>
            <a:ext cx="9449368" cy="85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499" spc="1331">
                <a:solidFill>
                  <a:srgbClr val="26D0CE"/>
                </a:solidFill>
                <a:latin typeface="Lovelo"/>
                <a:ea typeface="Lovelo"/>
                <a:cs typeface="Lovelo"/>
                <a:sym typeface="Lovelo"/>
              </a:rPr>
              <a:t>MUCHAS GRACIAS</a:t>
            </a:r>
          </a:p>
          <a:p>
            <a:pPr algn="ctr">
              <a:lnSpc>
                <a:spcPts val="1792"/>
              </a:lnSpc>
              <a:spcBef>
                <a:spcPct val="0"/>
              </a:spcBef>
            </a:pPr>
            <a:r>
              <a:rPr lang="en-US" sz="1600" u="sng" spc="473">
                <a:solidFill>
                  <a:srgbClr val="26D0CE"/>
                </a:solidFill>
                <a:latin typeface="Lovelo"/>
                <a:ea typeface="Lovelo"/>
                <a:cs typeface="Lovelo"/>
                <a:sym typeface="Lovelo"/>
                <a:hlinkClick r:id="rId2" tooltip="https://recfacialch.myddns.me/Proyecto-DAW/index.php"/>
              </a:rPr>
              <a:t>HTTPS://RECFACIALCH.MYDDNS.ME/PROYECTO-DAW/INDEX.PHP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31907" y="8121650"/>
            <a:ext cx="8424187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spc="515">
                <a:solidFill>
                  <a:srgbClr val="26D0CE"/>
                </a:solidFill>
                <a:latin typeface="Lovelo"/>
                <a:ea typeface="Lovelo"/>
                <a:cs typeface="Lovelo"/>
                <a:sym typeface="Lovelo"/>
              </a:rPr>
              <a:t>proyecto | daw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836025"/>
            <a:ext cx="162306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29">
                <a:solidFill>
                  <a:srgbClr val="26D0CE"/>
                </a:solidFill>
                <a:latin typeface="Lovelo"/>
                <a:ea typeface="Lovelo"/>
                <a:cs typeface="Lovelo"/>
                <a:sym typeface="Lovelo"/>
              </a:rPr>
              <a:t>David Martín Prados, Raquel Molina Serrano e ISIS TORRES GOMEZ </a:t>
            </a:r>
          </a:p>
        </p:txBody>
      </p:sp>
      <p:sp>
        <p:nvSpPr>
          <p:cNvPr id="5" name="Freeform 5"/>
          <p:cNvSpPr/>
          <p:nvPr/>
        </p:nvSpPr>
        <p:spPr>
          <a:xfrm>
            <a:off x="7416110" y="1256428"/>
            <a:ext cx="3455780" cy="2687829"/>
          </a:xfrm>
          <a:custGeom>
            <a:avLst/>
            <a:gdLst/>
            <a:ahLst/>
            <a:cxnLst/>
            <a:rect l="l" t="t" r="r" b="b"/>
            <a:pathLst>
              <a:path w="3455780" h="2687829">
                <a:moveTo>
                  <a:pt x="0" y="0"/>
                </a:moveTo>
                <a:lnTo>
                  <a:pt x="3455780" y="0"/>
                </a:lnTo>
                <a:lnTo>
                  <a:pt x="3455780" y="2687828"/>
                </a:lnTo>
                <a:lnTo>
                  <a:pt x="0" y="2687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1505</Words>
  <Application>Microsoft Office PowerPoint</Application>
  <PresentationFormat>Custom</PresentationFormat>
  <Paragraphs>268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Propuesta de proyecto Minimalista Verde</dc:title>
  <cp:lastModifiedBy>Molina Serrano, Raquel</cp:lastModifiedBy>
  <cp:revision>83</cp:revision>
  <dcterms:created xsi:type="dcterms:W3CDTF">2006-08-16T00:00:00Z</dcterms:created>
  <dcterms:modified xsi:type="dcterms:W3CDTF">2025-05-15T18:28:35Z</dcterms:modified>
  <dc:identifier>DAGnc6P9ltc</dc:identifier>
</cp:coreProperties>
</file>